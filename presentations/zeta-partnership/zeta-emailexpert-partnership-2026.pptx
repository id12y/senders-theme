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deal is agreed — this is an activation plan, not a pitch. Open by separating the two investments: the 12-month Strategic Partnership (£12,950) and FORUM London Platinum (£9,000 incremental after the £5,950 membership credit against the £14,950 package). Zeta total committed: £21,950. Separately, emailexpert is adding £11,825+ of directly attributable 2026 value — only the delegate places (up to £9,875) and the registration experience (£1,950) are monetised; research, founder outreach and introductions are deliberately not priced (that is what the plus sign communicates). Do not present a combined 'total package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contractual — present it as what Zeta can rely on, never as goodwill. The 9 tickets carry the only attributed value here (£3,555 at the conservative £395 benchmark); the 4 London places come out of the 9, so nothing is valued twice. Right column is voluntary: the 12 activations are the annual partnership baseline. London is expected to deliver a concentrated block of 6–9 within that baseline, while separately sponsored activations such as Breakfast or Gala increase the total opportunity set. Emphasise that emailexpert brings ideas proactively. No monetary value is placed on the 12 activations. The additional commitments are for the 2026/27 term and do not renew automatically — say this warmly, as a launch-year investment in making the relationship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engines run in parallel. Zeta brings the target list (~50 organisations, ~25 customers / 25 prospects if that split stays useful), known contacts, and the 10–12 priority names, and runs relationship-led outreach. emailexpert researches and maps senior people across all ~50, runs independent branded outreach, and Andrew personally leads outreach to the 10–12 priority targets — the independent publication/community position creates a different invitation context from vendor outreach. Commit to activity, not outcomes: attendance cannot be guaranteed. The research file remains an emailexpert working asset; Zeta receives registrants via the sponsored route — frame as commercially sensible practice, not defensiveness.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£11,825 is the anchor: up to 25 qualifying complimentary delegate places (up to £9,875 at the £395 benchmark) plus the dedicated co-branded registration experience (£1,950). Walk through qualification briefly — it protects the quality and balance of the Forum audience for both sides. These are invitations to the right senior brand-side people, not 'leads'. The sponsored route shares name, job title, company and business email with Zeta, with clear disclosure and a normal-ticket alternative; dietary, accessibility and marketing preferences stay with emailexpert. Launch-year commitment — not an automatically renewing entitlement.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contractual Platinum package distinct from the additional London commitment. Observer passes are for guests Zeta invites — prospects, clients and partners — not staff tickets, they are not additional delegate inventory, and no value is attributed to them. The session is flexible in format but substantive in character. On the right: the 6–9 facilitated London activations are a concentrated block within the annual commitment of 12 — if London delivers 9, at least 3 remain committed across the rest of the term. Separately sponsored activations, such as the Breakfast or Gala, sit above that baseline and increase the total opportunity set. An accepted complimentary ticket alone never counts as an activation, and no monetary value is placed on the 6–9 activations. The standard delegate directory (name, job title, organisation, subject to opt-out) is separate from the sponsored landing-page data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asks: audience inputs (the ~50 organisations, the 10–12 priority names, ICP and sector priority, a named outreach owner), landing-page inputs before launch, and programme inputs. Then the two contractual dates: 18 September (brand assets, speaker name and title, initial session outline, company profile) and 30 October (final session materials, pass nominations). The Breakfast (being scoped with Caroline) and the Gala Dinner are separate paid opportunities and sit outside the £11,825 total — as separately sponsored activations they sit above the annual partnership baseline and increase the total opportunity set. Introduce them as natural extensions, not an upsell. End on the closing statement: we are not metering goodwill; substantial bespoke projects get scoped separately and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F35"/>
        </a:solidFill>
      </p:bgPr>
    </p:bg>
    <p:spTree>
      <p:nvGrpSpPr>
        <p:cNvPr id="1" name=""/>
        <p:cNvGrpSpPr/>
        <p:nvPr/>
      </p:nvGrpSpPr>
      <p:grpSpPr>
        <a:xfrm>
          <a:off x="0" y="0"/>
          <a:ext cx="0" cy="0"/>
          <a:chOff x="0" y="0"/>
          <a:chExt cx="0" cy="0"/>
        </a:xfrm>
      </p:grpSpPr>
      <p:sp>
        <p:nvSpPr>
          <p:cNvPr id="2" name="Text 0"/>
          <p:cNvSpPr/>
          <p:nvPr/>
        </p:nvSpPr>
        <p:spPr>
          <a:xfrm>
            <a:off x="548640" y="457200"/>
            <a:ext cx="1109441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Two investments. One joined-up programme.</a:t>
            </a:r>
            <a:endParaRPr lang="en-US" sz="3200" dirty="0"/>
          </a:p>
        </p:txBody>
      </p:sp>
      <p:sp>
        <p:nvSpPr>
          <p:cNvPr id="3" name="Text 1"/>
          <p:cNvSpPr/>
          <p:nvPr/>
        </p:nvSpPr>
        <p:spPr>
          <a:xfrm>
            <a:off x="548640" y="1078992"/>
            <a:ext cx="11094415" cy="310896"/>
          </a:xfrm>
          <a:prstGeom prst="rect">
            <a:avLst/>
          </a:prstGeom>
          <a:noFill/>
          <a:ln/>
        </p:spPr>
        <p:txBody>
          <a:bodyPr wrap="square" lIns="0" tIns="0" rIns="0" bIns="0" rtlCol="0" anchor="ctr"/>
          <a:lstStyle/>
          <a:p>
            <a:pPr indent="0" marL="0">
              <a:buNone/>
            </a:pPr>
            <a:r>
              <a:rPr lang="en-US" sz="1400" dirty="0">
                <a:solidFill>
                  <a:srgbClr val="9FACC2"/>
                </a:solidFill>
                <a:latin typeface="Calibri" pitchFamily="34" charset="0"/>
                <a:ea typeface="Calibri" pitchFamily="34" charset="-122"/>
                <a:cs typeface="Calibri" pitchFamily="34" charset="-120"/>
              </a:rPr>
              <a:t>Zeta Global × emailexpert · 2026/27 Strategic Partnership</a:t>
            </a:r>
            <a:endParaRPr lang="en-US" sz="1400" dirty="0"/>
          </a:p>
        </p:txBody>
      </p:sp>
      <p:sp>
        <p:nvSpPr>
          <p:cNvPr id="4" name="Shape 2"/>
          <p:cNvSpPr/>
          <p:nvPr/>
        </p:nvSpPr>
        <p:spPr>
          <a:xfrm>
            <a:off x="548640" y="1691640"/>
            <a:ext cx="3611880" cy="3127248"/>
          </a:xfrm>
          <a:prstGeom prst="roundRect">
            <a:avLst>
              <a:gd name="adj" fmla="val 2047"/>
            </a:avLst>
          </a:prstGeom>
          <a:solidFill>
            <a:srgbClr val="1D2E4C"/>
          </a:solidFill>
          <a:ln w="12700">
            <a:solidFill>
              <a:srgbClr val="1D2E4C"/>
            </a:solidFill>
            <a:prstDash val="solid"/>
          </a:ln>
        </p:spPr>
      </p:sp>
      <p:sp>
        <p:nvSpPr>
          <p:cNvPr id="5" name="Text 3"/>
          <p:cNvSpPr/>
          <p:nvPr/>
        </p:nvSpPr>
        <p:spPr>
          <a:xfrm>
            <a:off x="822960" y="1947672"/>
            <a:ext cx="3063240" cy="274320"/>
          </a:xfrm>
          <a:prstGeom prst="rect">
            <a:avLst/>
          </a:prstGeom>
          <a:noFill/>
          <a:ln/>
        </p:spPr>
        <p:txBody>
          <a:bodyPr wrap="square" lIns="0" tIns="0" rIns="0" bIns="0" rtlCol="0" anchor="ctr"/>
          <a:lstStyle/>
          <a:p>
            <a:pPr indent="0" marL="0">
              <a:buNone/>
            </a:pPr>
            <a:r>
              <a:rPr lang="en-US" sz="1100" b="1" spc="200" kern="0" dirty="0">
                <a:solidFill>
                  <a:srgbClr val="D9B45B"/>
                </a:solidFill>
                <a:latin typeface="Calibri" pitchFamily="34" charset="0"/>
                <a:ea typeface="Calibri" pitchFamily="34" charset="-122"/>
                <a:cs typeface="Calibri" pitchFamily="34" charset="-120"/>
              </a:rPr>
              <a:t>STRATEGIC PARTNER</a:t>
            </a:r>
            <a:endParaRPr lang="en-US" sz="1100" dirty="0"/>
          </a:p>
        </p:txBody>
      </p:sp>
      <p:sp>
        <p:nvSpPr>
          <p:cNvPr id="6" name="Text 4"/>
          <p:cNvSpPr/>
          <p:nvPr/>
        </p:nvSpPr>
        <p:spPr>
          <a:xfrm>
            <a:off x="822960" y="2258568"/>
            <a:ext cx="30632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£12,950</a:t>
            </a:r>
            <a:endParaRPr lang="en-US" sz="4000" dirty="0"/>
          </a:p>
        </p:txBody>
      </p:sp>
      <p:sp>
        <p:nvSpPr>
          <p:cNvPr id="7" name="Text 5"/>
          <p:cNvSpPr/>
          <p:nvPr/>
        </p:nvSpPr>
        <p:spPr>
          <a:xfrm>
            <a:off x="822960" y="3008376"/>
            <a:ext cx="30632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12-month, always-on relationship</a:t>
            </a:r>
            <a:endParaRPr lang="en-US" sz="1250" dirty="0"/>
          </a:p>
        </p:txBody>
      </p:sp>
      <p:sp>
        <p:nvSpPr>
          <p:cNvPr id="8" name="Shape 6"/>
          <p:cNvSpPr/>
          <p:nvPr/>
        </p:nvSpPr>
        <p:spPr>
          <a:xfrm>
            <a:off x="822960" y="3447288"/>
            <a:ext cx="3063240" cy="0"/>
          </a:xfrm>
          <a:prstGeom prst="line">
            <a:avLst/>
          </a:prstGeom>
          <a:noFill/>
          <a:ln w="12700">
            <a:solidFill>
              <a:srgbClr val="34486B"/>
            </a:solidFill>
            <a:prstDash val="solid"/>
          </a:ln>
        </p:spPr>
      </p:sp>
      <p:sp>
        <p:nvSpPr>
          <p:cNvPr id="9" name="Text 7"/>
          <p:cNvSpPr/>
          <p:nvPr/>
        </p:nvSpPr>
        <p:spPr>
          <a:xfrm>
            <a:off x="822960" y="3593592"/>
            <a:ext cx="3063240" cy="1005840"/>
          </a:xfrm>
          <a:prstGeom prst="rect">
            <a:avLst/>
          </a:prstGeom>
          <a:noFill/>
          <a:ln/>
        </p:spPr>
        <p:txBody>
          <a:bodyPr wrap="square" lIns="0" tIns="0" rIns="0" bIns="0" rtlCol="0" anchor="ctr"/>
          <a:lstStyle/>
          <a:p>
            <a:pPr indent="0" marL="0">
              <a:lnSpc>
                <a:spcPct val="115000"/>
              </a:lnSpc>
              <a:buNone/>
            </a:pPr>
            <a:r>
              <a:rPr lang="en-US" sz="1150" dirty="0">
                <a:solidFill>
                  <a:srgbClr val="9FACC2"/>
                </a:solidFill>
                <a:latin typeface="Calibri" pitchFamily="34" charset="0"/>
                <a:ea typeface="Calibri" pitchFamily="34" charset="-122"/>
                <a:cs typeface="Calibri" pitchFamily="34" charset="-120"/>
              </a:rPr>
              <a:t>Access · visibility · participation · collaboration · curated opportunities</a:t>
            </a:r>
            <a:endParaRPr lang="en-US" sz="1150" dirty="0"/>
          </a:p>
        </p:txBody>
      </p:sp>
      <p:sp>
        <p:nvSpPr>
          <p:cNvPr id="10" name="Shape 8"/>
          <p:cNvSpPr/>
          <p:nvPr/>
        </p:nvSpPr>
        <p:spPr>
          <a:xfrm>
            <a:off x="4343400" y="1691640"/>
            <a:ext cx="3611880" cy="3127248"/>
          </a:xfrm>
          <a:prstGeom prst="roundRect">
            <a:avLst>
              <a:gd name="adj" fmla="val 2047"/>
            </a:avLst>
          </a:prstGeom>
          <a:solidFill>
            <a:srgbClr val="1D2E4C"/>
          </a:solidFill>
          <a:ln w="12700">
            <a:solidFill>
              <a:srgbClr val="1D2E4C"/>
            </a:solidFill>
            <a:prstDash val="solid"/>
          </a:ln>
        </p:spPr>
      </p:sp>
      <p:sp>
        <p:nvSpPr>
          <p:cNvPr id="11" name="Text 9"/>
          <p:cNvSpPr/>
          <p:nvPr/>
        </p:nvSpPr>
        <p:spPr>
          <a:xfrm>
            <a:off x="4617720" y="1947672"/>
            <a:ext cx="3063240" cy="274320"/>
          </a:xfrm>
          <a:prstGeom prst="rect">
            <a:avLst/>
          </a:prstGeom>
          <a:noFill/>
          <a:ln/>
        </p:spPr>
        <p:txBody>
          <a:bodyPr wrap="square" lIns="0" tIns="0" rIns="0" bIns="0" rtlCol="0" anchor="ctr"/>
          <a:lstStyle/>
          <a:p>
            <a:pPr indent="0" marL="0">
              <a:buNone/>
            </a:pPr>
            <a:r>
              <a:rPr lang="en-US" sz="1100" b="1" spc="200" kern="0" dirty="0">
                <a:solidFill>
                  <a:srgbClr val="D9B45B"/>
                </a:solidFill>
                <a:latin typeface="Calibri" pitchFamily="34" charset="0"/>
                <a:ea typeface="Calibri" pitchFamily="34" charset="-122"/>
                <a:cs typeface="Calibri" pitchFamily="34" charset="-120"/>
              </a:rPr>
              <a:t>FORUM LONDON PLATINUM</a:t>
            </a:r>
            <a:endParaRPr lang="en-US" sz="1100" dirty="0"/>
          </a:p>
        </p:txBody>
      </p:sp>
      <p:sp>
        <p:nvSpPr>
          <p:cNvPr id="12" name="Text 10"/>
          <p:cNvSpPr/>
          <p:nvPr/>
        </p:nvSpPr>
        <p:spPr>
          <a:xfrm>
            <a:off x="4617720" y="2258568"/>
            <a:ext cx="306324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£9,000</a:t>
            </a:r>
            <a:endParaRPr lang="en-US" sz="4000" dirty="0"/>
          </a:p>
        </p:txBody>
      </p:sp>
      <p:sp>
        <p:nvSpPr>
          <p:cNvPr id="13" name="Text 11"/>
          <p:cNvSpPr/>
          <p:nvPr/>
        </p:nvSpPr>
        <p:spPr>
          <a:xfrm>
            <a:off x="4617720" y="3008376"/>
            <a:ext cx="306324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incremental London investment</a:t>
            </a:r>
            <a:endParaRPr lang="en-US" sz="1250" dirty="0"/>
          </a:p>
        </p:txBody>
      </p:sp>
      <p:sp>
        <p:nvSpPr>
          <p:cNvPr id="14" name="Shape 12"/>
          <p:cNvSpPr/>
          <p:nvPr/>
        </p:nvSpPr>
        <p:spPr>
          <a:xfrm>
            <a:off x="4617720" y="3447288"/>
            <a:ext cx="3063240" cy="0"/>
          </a:xfrm>
          <a:prstGeom prst="line">
            <a:avLst/>
          </a:prstGeom>
          <a:noFill/>
          <a:ln w="12700">
            <a:solidFill>
              <a:srgbClr val="34486B"/>
            </a:solidFill>
            <a:prstDash val="solid"/>
          </a:ln>
        </p:spPr>
      </p:sp>
      <p:sp>
        <p:nvSpPr>
          <p:cNvPr id="15" name="Text 13"/>
          <p:cNvSpPr/>
          <p:nvPr/>
        </p:nvSpPr>
        <p:spPr>
          <a:xfrm>
            <a:off x="4617720" y="3593592"/>
            <a:ext cx="3063240" cy="1051560"/>
          </a:xfrm>
          <a:prstGeom prst="rect">
            <a:avLst/>
          </a:prstGeom>
          <a:noFill/>
          <a:ln/>
        </p:spPr>
        <p:txBody>
          <a:bodyPr wrap="square" lIns="0" tIns="0" rIns="0" bIns="0" rtlCol="0" anchor="t"/>
          <a:lstStyle/>
          <a:p>
            <a:pPr indent="0" marL="0">
              <a:spcAft>
                <a:spcPts val="400"/>
              </a:spcAft>
              <a:buNone/>
            </a:pPr>
            <a:r>
              <a:rPr lang="en-US" sz="1150" dirty="0">
                <a:solidFill>
                  <a:srgbClr val="9FACC2"/>
                </a:solidFill>
                <a:latin typeface="Calibri" pitchFamily="34" charset="0"/>
                <a:ea typeface="Calibri" pitchFamily="34" charset="-122"/>
                <a:cs typeface="Calibri" pitchFamily="34" charset="-120"/>
              </a:rPr>
              <a:t>£14,950 Platinum package</a:t>
            </a:r>
            <a:endParaRPr lang="en-US" sz="1150" dirty="0"/>
          </a:p>
          <a:p>
            <a:pPr indent="0" marL="0">
              <a:spcAft>
                <a:spcPts val="800"/>
              </a:spcAft>
              <a:buNone/>
            </a:pPr>
            <a:r>
              <a:rPr lang="en-US" sz="1150" dirty="0">
                <a:solidFill>
                  <a:srgbClr val="9FACC2"/>
                </a:solidFill>
                <a:latin typeface="Calibri" pitchFamily="34" charset="0"/>
                <a:ea typeface="Calibri" pitchFamily="34" charset="-122"/>
                <a:cs typeface="Calibri" pitchFamily="34" charset="-120"/>
              </a:rPr>
              <a:t>less £5,950 Strategic Partner credit</a:t>
            </a:r>
            <a:endParaRPr lang="en-US" sz="1150" dirty="0"/>
          </a:p>
          <a:p>
            <a:pPr indent="0" marL="0">
              <a:buNone/>
            </a:pPr>
            <a:r>
              <a:rPr lang="en-US" sz="1150" dirty="0">
                <a:solidFill>
                  <a:srgbClr val="9FACC2"/>
                </a:solidFill>
                <a:latin typeface="Calibri" pitchFamily="34" charset="0"/>
                <a:ea typeface="Calibri" pitchFamily="34" charset="-122"/>
                <a:cs typeface="Calibri" pitchFamily="34" charset="-120"/>
              </a:rPr>
              <a:t>16–17 November 2026 · St Mary's Marylebone</a:t>
            </a:r>
            <a:endParaRPr lang="en-US" sz="1150" dirty="0"/>
          </a:p>
        </p:txBody>
      </p:sp>
      <p:sp>
        <p:nvSpPr>
          <p:cNvPr id="16" name="Shape 14"/>
          <p:cNvSpPr/>
          <p:nvPr/>
        </p:nvSpPr>
        <p:spPr>
          <a:xfrm>
            <a:off x="8138160" y="1691640"/>
            <a:ext cx="3504895" cy="1481328"/>
          </a:xfrm>
          <a:prstGeom prst="roundRect">
            <a:avLst>
              <a:gd name="adj" fmla="val 4321"/>
            </a:avLst>
          </a:prstGeom>
          <a:solidFill>
            <a:srgbClr val="1D2E4C"/>
          </a:solidFill>
          <a:ln w="12700">
            <a:solidFill>
              <a:srgbClr val="1D2E4C"/>
            </a:solidFill>
            <a:prstDash val="solid"/>
          </a:ln>
        </p:spPr>
      </p:sp>
      <p:sp>
        <p:nvSpPr>
          <p:cNvPr id="17" name="Text 15"/>
          <p:cNvSpPr/>
          <p:nvPr/>
        </p:nvSpPr>
        <p:spPr>
          <a:xfrm>
            <a:off x="8412480" y="1892808"/>
            <a:ext cx="2956255" cy="256032"/>
          </a:xfrm>
          <a:prstGeom prst="rect">
            <a:avLst/>
          </a:prstGeom>
          <a:noFill/>
          <a:ln/>
        </p:spPr>
        <p:txBody>
          <a:bodyPr wrap="square" lIns="0" tIns="0" rIns="0" bIns="0" rtlCol="0" anchor="ctr"/>
          <a:lstStyle/>
          <a:p>
            <a:pPr indent="0" marL="0">
              <a:buNone/>
            </a:pPr>
            <a:r>
              <a:rPr lang="en-US" sz="1100" b="1" spc="200" kern="0" dirty="0">
                <a:solidFill>
                  <a:srgbClr val="9FACC2"/>
                </a:solidFill>
                <a:latin typeface="Calibri" pitchFamily="34" charset="0"/>
                <a:ea typeface="Calibri" pitchFamily="34" charset="-122"/>
                <a:cs typeface="Calibri" pitchFamily="34" charset="-120"/>
              </a:rPr>
              <a:t>ZETA TOTAL COMMITTED</a:t>
            </a:r>
            <a:endParaRPr lang="en-US" sz="1100" dirty="0"/>
          </a:p>
        </p:txBody>
      </p:sp>
      <p:sp>
        <p:nvSpPr>
          <p:cNvPr id="18" name="Text 16"/>
          <p:cNvSpPr/>
          <p:nvPr/>
        </p:nvSpPr>
        <p:spPr>
          <a:xfrm>
            <a:off x="8412480" y="2148840"/>
            <a:ext cx="2956255"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£21,950</a:t>
            </a:r>
            <a:endParaRPr lang="en-US" sz="4000" dirty="0"/>
          </a:p>
        </p:txBody>
      </p:sp>
      <p:sp>
        <p:nvSpPr>
          <p:cNvPr id="19" name="Shape 17"/>
          <p:cNvSpPr/>
          <p:nvPr/>
        </p:nvSpPr>
        <p:spPr>
          <a:xfrm>
            <a:off x="8138160" y="3337560"/>
            <a:ext cx="3504895" cy="1481328"/>
          </a:xfrm>
          <a:prstGeom prst="roundRect">
            <a:avLst>
              <a:gd name="adj" fmla="val 4321"/>
            </a:avLst>
          </a:prstGeom>
          <a:solidFill>
            <a:srgbClr val="1D2E4C"/>
          </a:solidFill>
          <a:ln w="12700">
            <a:solidFill>
              <a:srgbClr val="1D2E4C"/>
            </a:solidFill>
            <a:prstDash val="solid"/>
          </a:ln>
        </p:spPr>
      </p:sp>
      <p:sp>
        <p:nvSpPr>
          <p:cNvPr id="20" name="Text 18"/>
          <p:cNvSpPr/>
          <p:nvPr/>
        </p:nvSpPr>
        <p:spPr>
          <a:xfrm>
            <a:off x="8412480" y="3502152"/>
            <a:ext cx="2956255" cy="411480"/>
          </a:xfrm>
          <a:prstGeom prst="rect">
            <a:avLst/>
          </a:prstGeom>
          <a:noFill/>
          <a:ln/>
        </p:spPr>
        <p:txBody>
          <a:bodyPr wrap="square" lIns="0" tIns="0" rIns="0" bIns="0" rtlCol="0" anchor="ctr"/>
          <a:lstStyle/>
          <a:p>
            <a:pPr indent="0" marL="0">
              <a:buNone/>
            </a:pPr>
            <a:r>
              <a:rPr lang="en-US" sz="1050" b="1" spc="100" kern="0" dirty="0">
                <a:solidFill>
                  <a:srgbClr val="D9B45B"/>
                </a:solidFill>
                <a:latin typeface="Calibri" pitchFamily="34" charset="0"/>
                <a:ea typeface="Calibri" pitchFamily="34" charset="-122"/>
                <a:cs typeface="Calibri" pitchFamily="34" charset="-120"/>
              </a:rPr>
              <a:t>ADDITIONAL 2026 VALUE ADDED BY EMAILEXPERT</a:t>
            </a:r>
            <a:endParaRPr lang="en-US" sz="1050" dirty="0"/>
          </a:p>
        </p:txBody>
      </p:sp>
      <p:sp>
        <p:nvSpPr>
          <p:cNvPr id="21" name="Text 19"/>
          <p:cNvSpPr/>
          <p:nvPr/>
        </p:nvSpPr>
        <p:spPr>
          <a:xfrm>
            <a:off x="8412480" y="3831336"/>
            <a:ext cx="2956255" cy="786384"/>
          </a:xfrm>
          <a:prstGeom prst="rect">
            <a:avLst/>
          </a:prstGeom>
          <a:noFill/>
          <a:ln/>
        </p:spPr>
        <p:txBody>
          <a:bodyPr wrap="square" lIns="0" tIns="0" rIns="0" bIns="0" rtlCol="0" anchor="ctr"/>
          <a:lstStyle/>
          <a:p>
            <a:pPr indent="0" marL="0">
              <a:buNone/>
            </a:pPr>
            <a:r>
              <a:rPr lang="en-US" sz="4000" b="1" dirty="0">
                <a:solidFill>
                  <a:srgbClr val="D9B45B"/>
                </a:solidFill>
                <a:latin typeface="Cambria" pitchFamily="34" charset="0"/>
                <a:ea typeface="Cambria" pitchFamily="34" charset="-122"/>
                <a:cs typeface="Cambria" pitchFamily="34" charset="-120"/>
              </a:rPr>
              <a:t>£11,825+</a:t>
            </a:r>
            <a:endParaRPr lang="en-US" sz="4000" dirty="0"/>
          </a:p>
        </p:txBody>
      </p:sp>
      <p:sp>
        <p:nvSpPr>
          <p:cNvPr id="22" name="Text 20"/>
          <p:cNvSpPr/>
          <p:nvPr/>
        </p:nvSpPr>
        <p:spPr>
          <a:xfrm>
            <a:off x="548640" y="5029200"/>
            <a:ext cx="11094415" cy="502920"/>
          </a:xfrm>
          <a:prstGeom prst="rect">
            <a:avLst/>
          </a:prstGeom>
          <a:noFill/>
          <a:ln/>
        </p:spPr>
        <p:txBody>
          <a:bodyPr wrap="square" lIns="0" tIns="0" rIns="0" bIns="0" rtlCol="0" anchor="ctr"/>
          <a:lstStyle/>
          <a:p>
            <a:pPr indent="0" marL="0">
              <a:lnSpc>
                <a:spcPct val="115000"/>
              </a:lnSpc>
              <a:buNone/>
            </a:pPr>
            <a:r>
              <a:rPr lang="en-US" sz="1050" dirty="0">
                <a:solidFill>
                  <a:srgbClr val="9FACC2"/>
                </a:solidFill>
                <a:latin typeface="Calibri" pitchFamily="34" charset="0"/>
                <a:ea typeface="Calibri" pitchFamily="34" charset="-122"/>
                <a:cs typeface="Calibri" pitchFamily="34" charset="-120"/>
              </a:rPr>
              <a:t>£9,875 in additional qualifying-brand delegate places + £1,950 dedicated co-branded registration experience. No monetary value has been attributed to research, targeted outreach, founder time or facilitated introductions.</a:t>
            </a:r>
            <a:endParaRPr lang="en-US" sz="1050" dirty="0"/>
          </a:p>
        </p:txBody>
      </p:sp>
      <p:sp>
        <p:nvSpPr>
          <p:cNvPr id="23" name="Shape 21"/>
          <p:cNvSpPr/>
          <p:nvPr/>
        </p:nvSpPr>
        <p:spPr>
          <a:xfrm>
            <a:off x="548640" y="5742432"/>
            <a:ext cx="11094415" cy="0"/>
          </a:xfrm>
          <a:prstGeom prst="line">
            <a:avLst/>
          </a:prstGeom>
          <a:noFill/>
          <a:ln w="12700">
            <a:solidFill>
              <a:srgbClr val="34486B"/>
            </a:solidFill>
            <a:prstDash val="solid"/>
          </a:ln>
        </p:spPr>
      </p:sp>
      <p:sp>
        <p:nvSpPr>
          <p:cNvPr id="24" name="Text 22"/>
          <p:cNvSpPr/>
          <p:nvPr/>
        </p:nvSpPr>
        <p:spPr>
          <a:xfrm>
            <a:off x="548640" y="5925312"/>
            <a:ext cx="11094415" cy="548640"/>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The contracts establish the foundation. The activation plan shows how emailexpert intends to make that investment perform.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800" b="1" dirty="0">
                <a:solidFill>
                  <a:srgbClr val="121F35"/>
                </a:solidFill>
                <a:latin typeface="Cambria" pitchFamily="34" charset="0"/>
                <a:ea typeface="Cambria" pitchFamily="34" charset="-122"/>
                <a:cs typeface="Cambria" pitchFamily="34" charset="-120"/>
              </a:rPr>
              <a:t>The 12-month Strategic Partnership</a:t>
            </a:r>
            <a:endParaRPr lang="en-US" sz="28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indent="0" marL="0">
              <a:buNone/>
            </a:pPr>
            <a:r>
              <a:rPr lang="en-US" sz="1300" dirty="0">
                <a:solidFill>
                  <a:srgbClr val="55637A"/>
                </a:solidFill>
                <a:latin typeface="Calibri" pitchFamily="34" charset="0"/>
                <a:ea typeface="Calibri" pitchFamily="34" charset="-122"/>
                <a:cs typeface="Calibri" pitchFamily="34" charset="-120"/>
              </a:rPr>
              <a:t>What Zeta can rely on — and what emailexpert is adding</a:t>
            </a:r>
            <a:endParaRPr lang="en-US" sz="1300" dirty="0"/>
          </a:p>
        </p:txBody>
      </p:sp>
      <p:sp>
        <p:nvSpPr>
          <p:cNvPr id="4" name="Shape 2"/>
          <p:cNvSpPr/>
          <p:nvPr/>
        </p:nvSpPr>
        <p:spPr>
          <a:xfrm>
            <a:off x="548640" y="1371600"/>
            <a:ext cx="1554480" cy="292608"/>
          </a:xfrm>
          <a:prstGeom prst="roundRect">
            <a:avLst>
              <a:gd name="adj" fmla="val 50000"/>
            </a:avLst>
          </a:prstGeom>
          <a:solidFill>
            <a:srgbClr val="121F35"/>
          </a:solidFill>
          <a:ln w="12700">
            <a:solidFill>
              <a:srgbClr val="121F35"/>
            </a:solidFill>
            <a:prstDash val="solid"/>
          </a:ln>
        </p:spPr>
      </p:sp>
      <p:sp>
        <p:nvSpPr>
          <p:cNvPr id="5" name="Text 3"/>
          <p:cNvSpPr/>
          <p:nvPr/>
        </p:nvSpPr>
        <p:spPr>
          <a:xfrm>
            <a:off x="548640" y="1371600"/>
            <a:ext cx="1554480" cy="292608"/>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CONTRACTUAL</a:t>
            </a:r>
            <a:endParaRPr lang="en-US" sz="950" dirty="0"/>
          </a:p>
        </p:txBody>
      </p:sp>
      <p:sp>
        <p:nvSpPr>
          <p:cNvPr id="6" name="Shape 4"/>
          <p:cNvSpPr/>
          <p:nvPr/>
        </p:nvSpPr>
        <p:spPr>
          <a:xfrm>
            <a:off x="6309360" y="1371600"/>
            <a:ext cx="3931920" cy="292608"/>
          </a:xfrm>
          <a:prstGeom prst="roundRect">
            <a:avLst>
              <a:gd name="adj" fmla="val 50000"/>
            </a:avLst>
          </a:prstGeom>
          <a:solidFill>
            <a:srgbClr val="EFE2BC"/>
          </a:solidFill>
          <a:ln w="12700">
            <a:solidFill>
              <a:srgbClr val="EFE2BC"/>
            </a:solidFill>
            <a:prstDash val="solid"/>
          </a:ln>
        </p:spPr>
      </p:sp>
      <p:sp>
        <p:nvSpPr>
          <p:cNvPr id="7" name="Text 5"/>
          <p:cNvSpPr/>
          <p:nvPr/>
        </p:nvSpPr>
        <p:spPr>
          <a:xfrm>
            <a:off x="6309360" y="1371600"/>
            <a:ext cx="3931920" cy="292608"/>
          </a:xfrm>
          <a:prstGeom prst="rect">
            <a:avLst/>
          </a:prstGeom>
          <a:noFill/>
          <a:ln/>
        </p:spPr>
        <p:txBody>
          <a:bodyPr wrap="square" lIns="0" tIns="0" rIns="0" bIns="0" rtlCol="0" anchor="ctr"/>
          <a:lstStyle/>
          <a:p>
            <a:pPr algn="ctr" indent="0" marL="0">
              <a:buNone/>
            </a:pPr>
            <a:r>
              <a:rPr lang="en-US" sz="950" b="1" spc="200" kern="0" dirty="0">
                <a:solidFill>
                  <a:srgbClr val="5F4A0E"/>
                </a:solidFill>
                <a:latin typeface="Calibri" pitchFamily="34" charset="0"/>
                <a:ea typeface="Calibri" pitchFamily="34" charset="-122"/>
                <a:cs typeface="Calibri" pitchFamily="34" charset="-120"/>
              </a:rPr>
              <a:t>ADDITIONAL EMAILEXPERT COMMITMENT</a:t>
            </a:r>
            <a:endParaRPr lang="en-US" sz="950" dirty="0"/>
          </a:p>
        </p:txBody>
      </p:sp>
      <p:sp>
        <p:nvSpPr>
          <p:cNvPr id="8" name="Shape 6"/>
          <p:cNvSpPr/>
          <p:nvPr/>
        </p:nvSpPr>
        <p:spPr>
          <a:xfrm>
            <a:off x="548640" y="1810512"/>
            <a:ext cx="5532120" cy="4315968"/>
          </a:xfrm>
          <a:prstGeom prst="roundRect">
            <a:avLst>
              <a:gd name="adj" fmla="val 1483"/>
            </a:avLst>
          </a:prstGeom>
          <a:solidFill>
            <a:srgbClr val="F3F5F8"/>
          </a:solidFill>
          <a:ln w="12700">
            <a:solidFill>
              <a:srgbClr val="F3F5F8"/>
            </a:solidFill>
            <a:prstDash val="solid"/>
          </a:ln>
        </p:spPr>
      </p:sp>
      <p:sp>
        <p:nvSpPr>
          <p:cNvPr id="9" name="Text 7"/>
          <p:cNvSpPr/>
          <p:nvPr/>
        </p:nvSpPr>
        <p:spPr>
          <a:xfrm>
            <a:off x="822960" y="1993392"/>
            <a:ext cx="3566160" cy="566928"/>
          </a:xfrm>
          <a:prstGeom prst="rect">
            <a:avLst/>
          </a:prstGeom>
          <a:noFill/>
          <a:ln/>
        </p:spPr>
        <p:txBody>
          <a:bodyPr wrap="square" lIns="0" tIns="0" rIns="0" bIns="0" rtlCol="0" anchor="t"/>
          <a:lstStyle/>
          <a:p>
            <a:pPr indent="0" marL="0">
              <a:spcAft>
                <a:spcPts val="100"/>
              </a:spcAft>
              <a:buNone/>
            </a:pPr>
            <a:r>
              <a:rPr lang="en-US" sz="1500" b="1" dirty="0">
                <a:solidFill>
                  <a:srgbClr val="121F35"/>
                </a:solidFill>
                <a:latin typeface="Calibri" pitchFamily="34" charset="0"/>
                <a:ea typeface="Calibri" pitchFamily="34" charset="-122"/>
                <a:cs typeface="Calibri" pitchFamily="34" charset="-120"/>
              </a:rPr>
              <a:t>9 event tickets</a:t>
            </a:r>
            <a:endParaRPr lang="en-US" sz="1500" dirty="0"/>
          </a:p>
          <a:p>
            <a:pPr indent="0" marL="0">
              <a:buNone/>
            </a:pPr>
            <a:r>
              <a:rPr lang="en-US" sz="1150" dirty="0">
                <a:solidFill>
                  <a:srgbClr val="273349"/>
                </a:solidFill>
                <a:latin typeface="Calibri" pitchFamily="34" charset="0"/>
                <a:ea typeface="Calibri" pitchFamily="34" charset="-122"/>
                <a:cs typeface="Calibri" pitchFamily="34" charset="-120"/>
              </a:rPr>
              <a:t>across the membership term</a:t>
            </a:r>
            <a:endParaRPr lang="en-US" sz="1500" dirty="0"/>
          </a:p>
        </p:txBody>
      </p:sp>
      <p:sp>
        <p:nvSpPr>
          <p:cNvPr id="10" name="Text 8"/>
          <p:cNvSpPr/>
          <p:nvPr/>
        </p:nvSpPr>
        <p:spPr>
          <a:xfrm>
            <a:off x="4480560" y="1956816"/>
            <a:ext cx="1325880" cy="457200"/>
          </a:xfrm>
          <a:prstGeom prst="rect">
            <a:avLst/>
          </a:prstGeom>
          <a:noFill/>
          <a:ln/>
        </p:spPr>
        <p:txBody>
          <a:bodyPr wrap="square" lIns="0" tIns="0" rIns="0" bIns="0" rtlCol="0" anchor="ctr"/>
          <a:lstStyle/>
          <a:p>
            <a:pPr algn="r" indent="0" marL="0">
              <a:buNone/>
            </a:pPr>
            <a:r>
              <a:rPr lang="en-US" sz="2200" b="1" dirty="0">
                <a:solidFill>
                  <a:srgbClr val="8C6A14"/>
                </a:solidFill>
                <a:latin typeface="Cambria" pitchFamily="34" charset="0"/>
                <a:ea typeface="Cambria" pitchFamily="34" charset="-122"/>
                <a:cs typeface="Cambria" pitchFamily="34" charset="-120"/>
              </a:rPr>
              <a:t>£3,555</a:t>
            </a:r>
            <a:endParaRPr lang="en-US" sz="2200" dirty="0"/>
          </a:p>
        </p:txBody>
      </p:sp>
      <p:sp>
        <p:nvSpPr>
          <p:cNvPr id="11" name="Text 9"/>
          <p:cNvSpPr/>
          <p:nvPr/>
        </p:nvSpPr>
        <p:spPr>
          <a:xfrm>
            <a:off x="822960" y="2615184"/>
            <a:ext cx="4983480" cy="475488"/>
          </a:xfrm>
          <a:prstGeom prst="rect">
            <a:avLst/>
          </a:prstGeom>
          <a:noFill/>
          <a:ln/>
        </p:spPr>
        <p:txBody>
          <a:bodyPr wrap="square" lIns="0" tIns="0" rIns="0" bIns="0" rtlCol="0" anchor="ctr"/>
          <a:lstStyle/>
          <a:p>
            <a:pPr indent="0" marL="0">
              <a:lnSpc>
                <a:spcPct val="110000"/>
              </a:lnSpc>
              <a:buNone/>
            </a:pPr>
            <a:r>
              <a:rPr lang="en-US" sz="1000" dirty="0">
                <a:solidFill>
                  <a:srgbClr val="55637A"/>
                </a:solidFill>
                <a:latin typeface="Calibri" pitchFamily="34" charset="0"/>
                <a:ea typeface="Calibri" pitchFamily="34" charset="-122"/>
                <a:cs typeface="Calibri" pitchFamily="34" charset="-120"/>
              </a:rPr>
              <a:t>Benchmarked conservatively at £395 each. The 4 London delegate places are drawn from these 9; 5 remain available across the rest of the membership term.</a:t>
            </a:r>
            <a:endParaRPr lang="en-US" sz="1000" dirty="0"/>
          </a:p>
        </p:txBody>
      </p:sp>
      <p:sp>
        <p:nvSpPr>
          <p:cNvPr id="12" name="Shape 10"/>
          <p:cNvSpPr/>
          <p:nvPr/>
        </p:nvSpPr>
        <p:spPr>
          <a:xfrm>
            <a:off x="822960" y="3182112"/>
            <a:ext cx="4983480" cy="0"/>
          </a:xfrm>
          <a:prstGeom prst="line">
            <a:avLst/>
          </a:prstGeom>
          <a:noFill/>
          <a:ln w="12700">
            <a:solidFill>
              <a:srgbClr val="D9DFE8"/>
            </a:solidFill>
            <a:prstDash val="solid"/>
          </a:ln>
        </p:spPr>
      </p:sp>
      <p:sp>
        <p:nvSpPr>
          <p:cNvPr id="13" name="Text 11"/>
          <p:cNvSpPr/>
          <p:nvPr/>
        </p:nvSpPr>
        <p:spPr>
          <a:xfrm>
            <a:off x="822960" y="3310128"/>
            <a:ext cx="4983480" cy="261518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Elevated brand presence across emailexpert events and content</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Preferred company and category positioning, with an enhanced profile</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Priority consideration for speaking opportunities and panels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Participation in selected private sessions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Access to curated introductions and partnership opportunities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Direct access to the emailexpert team for collaboration and campaign support</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Member rates on additional sponsorship, delegate places and services</a:t>
            </a:r>
            <a:endParaRPr lang="en-US" sz="1050" dirty="0"/>
          </a:p>
        </p:txBody>
      </p:sp>
      <p:sp>
        <p:nvSpPr>
          <p:cNvPr id="14" name="Shape 12"/>
          <p:cNvSpPr/>
          <p:nvPr/>
        </p:nvSpPr>
        <p:spPr>
          <a:xfrm>
            <a:off x="6309360" y="1810512"/>
            <a:ext cx="5333695" cy="4315968"/>
          </a:xfrm>
          <a:prstGeom prst="roundRect">
            <a:avLst>
              <a:gd name="adj" fmla="val 1483"/>
            </a:avLst>
          </a:prstGeom>
          <a:solidFill>
            <a:srgbClr val="FAF6EA"/>
          </a:solidFill>
          <a:ln w="12700">
            <a:solidFill>
              <a:srgbClr val="E5D9B4"/>
            </a:solidFill>
            <a:prstDash val="solid"/>
          </a:ln>
        </p:spPr>
      </p:sp>
      <p:sp>
        <p:nvSpPr>
          <p:cNvPr id="15" name="Text 13"/>
          <p:cNvSpPr/>
          <p:nvPr/>
        </p:nvSpPr>
        <p:spPr>
          <a:xfrm>
            <a:off x="6583680" y="1975104"/>
            <a:ext cx="960120" cy="868680"/>
          </a:xfrm>
          <a:prstGeom prst="rect">
            <a:avLst/>
          </a:prstGeom>
          <a:noFill/>
          <a:ln/>
        </p:spPr>
        <p:txBody>
          <a:bodyPr wrap="square" lIns="0" tIns="0" rIns="0" bIns="0" rtlCol="0" anchor="ctr"/>
          <a:lstStyle/>
          <a:p>
            <a:pPr indent="0" marL="0">
              <a:buNone/>
            </a:pPr>
            <a:r>
              <a:rPr lang="en-US" sz="4800" b="1" dirty="0">
                <a:solidFill>
                  <a:srgbClr val="8C6A14"/>
                </a:solidFill>
                <a:latin typeface="Cambria" pitchFamily="34" charset="0"/>
                <a:ea typeface="Cambria" pitchFamily="34" charset="-122"/>
                <a:cs typeface="Cambria" pitchFamily="34" charset="-120"/>
              </a:rPr>
              <a:t>12</a:t>
            </a:r>
            <a:endParaRPr lang="en-US" sz="4800" dirty="0"/>
          </a:p>
        </p:txBody>
      </p:sp>
      <p:sp>
        <p:nvSpPr>
          <p:cNvPr id="16" name="Text 14"/>
          <p:cNvSpPr/>
          <p:nvPr/>
        </p:nvSpPr>
        <p:spPr>
          <a:xfrm>
            <a:off x="7635240" y="1956816"/>
            <a:ext cx="3733495" cy="1005840"/>
          </a:xfrm>
          <a:prstGeom prst="rect">
            <a:avLst/>
          </a:prstGeom>
          <a:noFill/>
          <a:ln/>
        </p:spPr>
        <p:txBody>
          <a:bodyPr wrap="square" lIns="0" tIns="0" rIns="0" bIns="0" rtlCol="0" anchor="ctr"/>
          <a:lstStyle/>
          <a:p>
            <a:pPr indent="0" marL="0">
              <a:lnSpc>
                <a:spcPct val="110000"/>
              </a:lnSpc>
              <a:buNone/>
            </a:pPr>
            <a:r>
              <a:rPr lang="en-US" sz="1150" b="1" dirty="0">
                <a:solidFill>
                  <a:srgbClr val="121F35"/>
                </a:solidFill>
                <a:latin typeface="Calibri" pitchFamily="34" charset="0"/>
                <a:ea typeface="Calibri" pitchFamily="34" charset="-122"/>
                <a:cs typeface="Calibri" pitchFamily="34" charset="-120"/>
              </a:rPr>
              <a:t>Minimum 12 meaningful partnership activations across the membership year, with the London Forum expected to deliver a concentrated block of 6–9 within that commitment.</a:t>
            </a:r>
            <a:endParaRPr lang="en-US" sz="1150" dirty="0"/>
          </a:p>
        </p:txBody>
      </p:sp>
      <p:sp>
        <p:nvSpPr>
          <p:cNvPr id="17" name="Text 15"/>
          <p:cNvSpPr/>
          <p:nvPr/>
        </p:nvSpPr>
        <p:spPr>
          <a:xfrm>
            <a:off x="6583680" y="3090672"/>
            <a:ext cx="4785055" cy="1664208"/>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273349"/>
                </a:solidFill>
                <a:latin typeface="Calibri" pitchFamily="34" charset="0"/>
                <a:ea typeface="Calibri" pitchFamily="34" charset="-122"/>
                <a:cs typeface="Calibri" pitchFamily="34" charset="-120"/>
              </a:rPr>
              <a:t>Proactive identification of opportunities aligned with Zeta priorities and ICP — emailexpert brings ideas to Zeta rather than waiting for requests</a:t>
            </a:r>
            <a:endParaRPr lang="en-US" sz="1050" dirty="0"/>
          </a:p>
          <a:p>
            <a:pPr marL="127000" indent="-127000">
              <a:spcAft>
                <a:spcPts val="700"/>
              </a:spcAft>
              <a:buSzPct val="100000"/>
              <a:buChar char="•"/>
            </a:pPr>
            <a:r>
              <a:rPr lang="en-US" sz="1050" dirty="0">
                <a:solidFill>
                  <a:srgbClr val="273349"/>
                </a:solidFill>
                <a:latin typeface="Calibri" pitchFamily="34" charset="0"/>
                <a:ea typeface="Calibri" pitchFamily="34" charset="-122"/>
                <a:cs typeface="Calibri" pitchFamily="34" charset="-120"/>
              </a:rPr>
              <a:t>Formats include curated introductions, webinars, private sessions, roundtables, joint programme participation and relevant partner or JV opportunities</a:t>
            </a:r>
            <a:endParaRPr lang="en-US" sz="1050" dirty="0"/>
          </a:p>
          <a:p>
            <a:pPr marL="127000" indent="-127000">
              <a:spcAft>
                <a:spcPts val="700"/>
              </a:spcAft>
              <a:buSzPct val="100000"/>
              <a:buChar char="•"/>
            </a:pPr>
            <a:r>
              <a:rPr lang="en-US" sz="1050" dirty="0">
                <a:solidFill>
                  <a:srgbClr val="273349"/>
                </a:solidFill>
                <a:latin typeface="Calibri" pitchFamily="34" charset="0"/>
                <a:ea typeface="Calibri" pitchFamily="34" charset="-122"/>
                <a:cs typeface="Calibri" pitchFamily="34" charset="-120"/>
              </a:rPr>
              <a:t>Selected discretionary event access where useful and appropriate</a:t>
            </a:r>
            <a:endParaRPr lang="en-US" sz="1050" dirty="0"/>
          </a:p>
        </p:txBody>
      </p:sp>
      <p:sp>
        <p:nvSpPr>
          <p:cNvPr id="18" name="Shape 16"/>
          <p:cNvSpPr/>
          <p:nvPr/>
        </p:nvSpPr>
        <p:spPr>
          <a:xfrm>
            <a:off x="6583680" y="4828032"/>
            <a:ext cx="4785055" cy="1078992"/>
          </a:xfrm>
          <a:prstGeom prst="roundRect">
            <a:avLst>
              <a:gd name="adj" fmla="val 5932"/>
            </a:avLst>
          </a:prstGeom>
          <a:solidFill>
            <a:srgbClr val="FFFFFF"/>
          </a:solidFill>
          <a:ln w="12700">
            <a:solidFill>
              <a:srgbClr val="E5D9B4"/>
            </a:solidFill>
            <a:prstDash val="solid"/>
          </a:ln>
        </p:spPr>
      </p:sp>
      <p:sp>
        <p:nvSpPr>
          <p:cNvPr id="19" name="Text 17"/>
          <p:cNvSpPr/>
          <p:nvPr/>
        </p:nvSpPr>
        <p:spPr>
          <a:xfrm>
            <a:off x="6748272" y="4937760"/>
            <a:ext cx="4455871" cy="859536"/>
          </a:xfrm>
          <a:prstGeom prst="rect">
            <a:avLst/>
          </a:prstGeom>
          <a:noFill/>
          <a:ln/>
        </p:spPr>
        <p:txBody>
          <a:bodyPr wrap="square" lIns="0" tIns="0" rIns="0" bIns="0" rtlCol="0" anchor="t"/>
          <a:lstStyle/>
          <a:p>
            <a:pPr indent="0" marL="0">
              <a:lnSpc>
                <a:spcPct val="110000"/>
              </a:lnSpc>
              <a:spcAft>
                <a:spcPts val="300"/>
              </a:spcAft>
              <a:buNone/>
            </a:pPr>
            <a:r>
              <a:rPr lang="en-US" sz="1050" b="1" dirty="0">
                <a:solidFill>
                  <a:srgbClr val="121F35"/>
                </a:solidFill>
                <a:latin typeface="Calibri" pitchFamily="34" charset="0"/>
                <a:ea typeface="Calibri" pitchFamily="34" charset="-122"/>
                <a:cs typeface="Calibri" pitchFamily="34" charset="-120"/>
              </a:rPr>
              <a:t>Partnership activation</a:t>
            </a:r>
            <a:endParaRPr lang="en-US" sz="1050" dirty="0"/>
          </a:p>
          <a:p>
            <a:pPr indent="0" marL="0">
              <a:lnSpc>
                <a:spcPct val="110000"/>
              </a:lnSpc>
              <a:buNone/>
            </a:pPr>
            <a:r>
              <a:rPr lang="en-US" sz="1000" dirty="0">
                <a:solidFill>
                  <a:srgbClr val="55637A"/>
                </a:solidFill>
                <a:latin typeface="Calibri" pitchFamily="34" charset="0"/>
                <a:ea typeface="Calibri" pitchFamily="34" charset="-122"/>
                <a:cs typeface="Calibri" pitchFamily="34" charset="-120"/>
              </a:rPr>
              <a:t>A meaningful opportunity created by emailexpert around an agreed Zeta objective or ICP. It is not necessarily a one-to-one sales introduction.</a:t>
            </a:r>
            <a:endParaRPr lang="en-US" sz="1050" dirty="0"/>
          </a:p>
        </p:txBody>
      </p:sp>
      <p:sp>
        <p:nvSpPr>
          <p:cNvPr id="20" name="Shape 18"/>
          <p:cNvSpPr/>
          <p:nvPr/>
        </p:nvSpPr>
        <p:spPr>
          <a:xfrm>
            <a:off x="548640" y="6309360"/>
            <a:ext cx="6126480" cy="274320"/>
          </a:xfrm>
          <a:prstGeom prst="roundRect">
            <a:avLst>
              <a:gd name="adj" fmla="val 40000"/>
            </a:avLst>
          </a:prstGeom>
          <a:solidFill>
            <a:srgbClr val="EFE2BC"/>
          </a:solidFill>
          <a:ln w="12700">
            <a:solidFill>
              <a:srgbClr val="EFE2BC"/>
            </a:solidFill>
            <a:prstDash val="solid"/>
          </a:ln>
        </p:spPr>
      </p:sp>
      <p:sp>
        <p:nvSpPr>
          <p:cNvPr id="21" name="Text 19"/>
          <p:cNvSpPr/>
          <p:nvPr/>
        </p:nvSpPr>
        <p:spPr>
          <a:xfrm>
            <a:off x="676656" y="6309360"/>
            <a:ext cx="5870448" cy="274320"/>
          </a:xfrm>
          <a:prstGeom prst="rect">
            <a:avLst/>
          </a:prstGeom>
          <a:noFill/>
          <a:ln/>
        </p:spPr>
        <p:txBody>
          <a:bodyPr wrap="square" lIns="0" tIns="0" rIns="0" bIns="0" rtlCol="0" anchor="ctr"/>
          <a:lstStyle/>
          <a:p>
            <a:pPr algn="l" indent="0" marL="0">
              <a:lnSpc>
                <a:spcPct val="105000"/>
              </a:lnSpc>
              <a:buNone/>
            </a:pPr>
            <a:r>
              <a:rPr lang="en-US" sz="900" i="1" dirty="0">
                <a:solidFill>
                  <a:srgbClr val="5F4A0E"/>
                </a:solidFill>
                <a:latin typeface="Calibri" pitchFamily="34" charset="0"/>
                <a:ea typeface="Calibri" pitchFamily="34" charset="-122"/>
                <a:cs typeface="Calibri" pitchFamily="34" charset="-120"/>
              </a:rPr>
              <a:t>Additional commitments apply to the 2026/27 term and are not automatically renewed.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400" b="1" dirty="0">
                <a:solidFill>
                  <a:srgbClr val="121F35"/>
                </a:solidFill>
                <a:latin typeface="Cambria" pitchFamily="34" charset="0"/>
                <a:ea typeface="Cambria" pitchFamily="34" charset="-122"/>
                <a:cs typeface="Cambria" pitchFamily="34" charset="-120"/>
              </a:rPr>
              <a:t>London: 50-Organisation Audience-Development Programme</a:t>
            </a:r>
            <a:endParaRPr lang="en-US" sz="24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indent="0" marL="0">
              <a:buNone/>
            </a:pPr>
            <a:r>
              <a:rPr lang="en-US" sz="1300" dirty="0">
                <a:solidFill>
                  <a:srgbClr val="55637A"/>
                </a:solidFill>
                <a:latin typeface="Calibri" pitchFamily="34" charset="0"/>
                <a:ea typeface="Calibri" pitchFamily="34" charset="-122"/>
                <a:cs typeface="Calibri" pitchFamily="34" charset="-120"/>
              </a:rPr>
              <a:t>Two outreach engines working in parallel</a:t>
            </a:r>
            <a:endParaRPr lang="en-US" sz="1300" dirty="0"/>
          </a:p>
        </p:txBody>
      </p:sp>
      <p:sp>
        <p:nvSpPr>
          <p:cNvPr id="4" name="Shape 2"/>
          <p:cNvSpPr/>
          <p:nvPr/>
        </p:nvSpPr>
        <p:spPr>
          <a:xfrm>
            <a:off x="548640" y="1389888"/>
            <a:ext cx="5440680" cy="3346704"/>
          </a:xfrm>
          <a:prstGeom prst="roundRect">
            <a:avLst>
              <a:gd name="adj" fmla="val 1913"/>
            </a:avLst>
          </a:prstGeom>
          <a:solidFill>
            <a:srgbClr val="F3F5F8"/>
          </a:solidFill>
          <a:ln w="12700">
            <a:solidFill>
              <a:srgbClr val="F3F5F8"/>
            </a:solidFill>
            <a:prstDash val="solid"/>
          </a:ln>
        </p:spPr>
      </p:sp>
      <p:sp>
        <p:nvSpPr>
          <p:cNvPr id="5" name="Text 3"/>
          <p:cNvSpPr/>
          <p:nvPr/>
        </p:nvSpPr>
        <p:spPr>
          <a:xfrm>
            <a:off x="822960" y="1572768"/>
            <a:ext cx="4892040" cy="274320"/>
          </a:xfrm>
          <a:prstGeom prst="rect">
            <a:avLst/>
          </a:prstGeom>
          <a:noFill/>
          <a:ln/>
        </p:spPr>
        <p:txBody>
          <a:bodyPr wrap="square" lIns="0" tIns="0" rIns="0" bIns="0" rtlCol="0" anchor="ctr"/>
          <a:lstStyle/>
          <a:p>
            <a:pPr indent="0" marL="0">
              <a:buNone/>
            </a:pPr>
            <a:r>
              <a:rPr lang="en-US" sz="1200" b="1" spc="250" kern="0" dirty="0">
                <a:solidFill>
                  <a:srgbClr val="121F35"/>
                </a:solidFill>
                <a:latin typeface="Calibri" pitchFamily="34" charset="0"/>
                <a:ea typeface="Calibri" pitchFamily="34" charset="-122"/>
                <a:cs typeface="Calibri" pitchFamily="34" charset="-120"/>
              </a:rPr>
              <a:t>ZETA</a:t>
            </a:r>
            <a:endParaRPr lang="en-US" sz="1200" dirty="0"/>
          </a:p>
        </p:txBody>
      </p:sp>
      <p:sp>
        <p:nvSpPr>
          <p:cNvPr id="6" name="Shape 4"/>
          <p:cNvSpPr/>
          <p:nvPr/>
        </p:nvSpPr>
        <p:spPr>
          <a:xfrm>
            <a:off x="822960" y="1901952"/>
            <a:ext cx="4892040" cy="0"/>
          </a:xfrm>
          <a:prstGeom prst="line">
            <a:avLst/>
          </a:prstGeom>
          <a:noFill/>
          <a:ln w="12700">
            <a:solidFill>
              <a:srgbClr val="D9DFE8"/>
            </a:solidFill>
            <a:prstDash val="solid"/>
          </a:ln>
        </p:spPr>
      </p:sp>
      <p:sp>
        <p:nvSpPr>
          <p:cNvPr id="7" name="Text 5"/>
          <p:cNvSpPr/>
          <p:nvPr/>
        </p:nvSpPr>
        <p:spPr>
          <a:xfrm>
            <a:off x="822960" y="2029968"/>
            <a:ext cx="4892040" cy="252374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Provides approximately 50 priority organisations — around 25 customers and 25 prospects, if that remains the useful split</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Supplies known senior contacts and personas where available</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Identifies the 10–12 highest-priority named individuals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Runs relationship-led outreach through its own channels and existing relationships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Directs suitable people towards the dedicated Zeta × FORUM registration experience</a:t>
            </a:r>
            <a:endParaRPr lang="en-US" sz="1050" dirty="0"/>
          </a:p>
        </p:txBody>
      </p:sp>
      <p:sp>
        <p:nvSpPr>
          <p:cNvPr id="8" name="Shape 6"/>
          <p:cNvSpPr/>
          <p:nvPr/>
        </p:nvSpPr>
        <p:spPr>
          <a:xfrm>
            <a:off x="6199632" y="1389888"/>
            <a:ext cx="5443423" cy="3346704"/>
          </a:xfrm>
          <a:prstGeom prst="roundRect">
            <a:avLst>
              <a:gd name="adj" fmla="val 1913"/>
            </a:avLst>
          </a:prstGeom>
          <a:solidFill>
            <a:srgbClr val="F3F5F8"/>
          </a:solidFill>
          <a:ln w="12700">
            <a:solidFill>
              <a:srgbClr val="F3F5F8"/>
            </a:solidFill>
            <a:prstDash val="solid"/>
          </a:ln>
        </p:spPr>
      </p:sp>
      <p:sp>
        <p:nvSpPr>
          <p:cNvPr id="9" name="Text 7"/>
          <p:cNvSpPr/>
          <p:nvPr/>
        </p:nvSpPr>
        <p:spPr>
          <a:xfrm>
            <a:off x="6473952" y="1572768"/>
            <a:ext cx="4894783" cy="274320"/>
          </a:xfrm>
          <a:prstGeom prst="rect">
            <a:avLst/>
          </a:prstGeom>
          <a:noFill/>
          <a:ln/>
        </p:spPr>
        <p:txBody>
          <a:bodyPr wrap="square" lIns="0" tIns="0" rIns="0" bIns="0" rtlCol="0" anchor="ctr"/>
          <a:lstStyle/>
          <a:p>
            <a:pPr indent="0" marL="0">
              <a:buNone/>
            </a:pPr>
            <a:r>
              <a:rPr lang="en-US" sz="1200" b="1" spc="250" kern="0" dirty="0">
                <a:solidFill>
                  <a:srgbClr val="8C6A14"/>
                </a:solidFill>
                <a:latin typeface="Calibri" pitchFamily="34" charset="0"/>
                <a:ea typeface="Calibri" pitchFamily="34" charset="-122"/>
                <a:cs typeface="Calibri" pitchFamily="34" charset="-120"/>
              </a:rPr>
              <a:t>EMAILEXPERT</a:t>
            </a:r>
            <a:endParaRPr lang="en-US" sz="1200" dirty="0"/>
          </a:p>
        </p:txBody>
      </p:sp>
      <p:sp>
        <p:nvSpPr>
          <p:cNvPr id="10" name="Shape 8"/>
          <p:cNvSpPr/>
          <p:nvPr/>
        </p:nvSpPr>
        <p:spPr>
          <a:xfrm>
            <a:off x="6473952" y="1901952"/>
            <a:ext cx="4894783" cy="0"/>
          </a:xfrm>
          <a:prstGeom prst="line">
            <a:avLst/>
          </a:prstGeom>
          <a:noFill/>
          <a:ln w="12700">
            <a:solidFill>
              <a:srgbClr val="D9DFE8"/>
            </a:solidFill>
            <a:prstDash val="solid"/>
          </a:ln>
        </p:spPr>
      </p:sp>
      <p:sp>
        <p:nvSpPr>
          <p:cNvPr id="11" name="Text 9"/>
          <p:cNvSpPr/>
          <p:nvPr/>
        </p:nvSpPr>
        <p:spPr>
          <a:xfrm>
            <a:off x="6473952" y="2029968"/>
            <a:ext cx="4894783" cy="252374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Researches and maps appropriate senior individuals across all ~50 organisations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Focuses on senior in-house practitioners and decision-makers aligned with the agreed ICP</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Runs independent emailexpert-branded outreach, with personalised founder-led outreach to the 10–12 agreed priority targets</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As an independent trade publication, community and event organiser, creates a different invitation context from vendor outreach</a:t>
            </a:r>
            <a:endParaRPr lang="en-US" sz="1050" dirty="0"/>
          </a:p>
          <a:p>
            <a:pPr marL="127000" indent="-127000">
              <a:spcAft>
                <a:spcPts val="600"/>
              </a:spcAft>
              <a:buSzPct val="100000"/>
              <a:buChar char="•"/>
            </a:pPr>
            <a:r>
              <a:rPr lang="en-US" sz="1050" dirty="0">
                <a:solidFill>
                  <a:srgbClr val="273349"/>
                </a:solidFill>
                <a:latin typeface="Calibri" pitchFamily="34" charset="0"/>
                <a:ea typeface="Calibri" pitchFamily="34" charset="-122"/>
                <a:cs typeface="Calibri" pitchFamily="34" charset="-120"/>
              </a:rPr>
              <a:t>Reports activity and resulting registrations</a:t>
            </a:r>
            <a:endParaRPr lang="en-US" sz="1050" dirty="0"/>
          </a:p>
        </p:txBody>
      </p:sp>
      <p:sp>
        <p:nvSpPr>
          <p:cNvPr id="12" name="Shape 10"/>
          <p:cNvSpPr/>
          <p:nvPr/>
        </p:nvSpPr>
        <p:spPr>
          <a:xfrm>
            <a:off x="548640" y="4901184"/>
            <a:ext cx="11094415" cy="713232"/>
          </a:xfrm>
          <a:prstGeom prst="roundRect">
            <a:avLst>
              <a:gd name="adj" fmla="val 8974"/>
            </a:avLst>
          </a:prstGeom>
          <a:solidFill>
            <a:srgbClr val="121F35"/>
          </a:solidFill>
          <a:ln w="12700">
            <a:solidFill>
              <a:srgbClr val="121F35"/>
            </a:solidFill>
            <a:prstDash val="solid"/>
          </a:ln>
        </p:spPr>
      </p:sp>
      <p:sp>
        <p:nvSpPr>
          <p:cNvPr id="13" name="Text 11"/>
          <p:cNvSpPr/>
          <p:nvPr/>
        </p:nvSpPr>
        <p:spPr>
          <a:xfrm>
            <a:off x="822960" y="4901184"/>
            <a:ext cx="10545775" cy="713232"/>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emailexpert commits to the research and outreach activity. Attendance by any particular individual or organisation — and subsequent commercial interest — cannot be guaranteed.</a:t>
            </a:r>
            <a:endParaRPr lang="en-US" sz="1200" dirty="0"/>
          </a:p>
        </p:txBody>
      </p:sp>
      <p:sp>
        <p:nvSpPr>
          <p:cNvPr id="14" name="Text 12"/>
          <p:cNvSpPr/>
          <p:nvPr/>
        </p:nvSpPr>
        <p:spPr>
          <a:xfrm>
            <a:off x="548640" y="5806440"/>
            <a:ext cx="11094415" cy="548640"/>
          </a:xfrm>
          <a:prstGeom prst="rect">
            <a:avLst/>
          </a:prstGeom>
          <a:noFill/>
          <a:ln/>
        </p:spPr>
        <p:txBody>
          <a:bodyPr wrap="square" lIns="0" tIns="0" rIns="0" bIns="0" rtlCol="0" anchor="ctr"/>
          <a:lstStyle/>
          <a:p>
            <a:pPr indent="0" marL="0">
              <a:lnSpc>
                <a:spcPct val="115000"/>
              </a:lnSpc>
              <a:buNone/>
            </a:pPr>
            <a:r>
              <a:rPr lang="en-US" sz="1050" i="1" dirty="0">
                <a:solidFill>
                  <a:srgbClr val="55637A"/>
                </a:solidFill>
                <a:latin typeface="Calibri" pitchFamily="34" charset="0"/>
                <a:ea typeface="Calibri" pitchFamily="34" charset="-122"/>
                <a:cs typeface="Calibri" pitchFamily="34" charset="-120"/>
              </a:rPr>
              <a:t>The underlying research and contact mapping remains an emailexpert working asset. Zeta receives qualifying registrants generated through the dedicated sponsored registration route, not emailexpert's underlying prospecting file.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800" b="1" dirty="0">
                <a:solidFill>
                  <a:srgbClr val="121F35"/>
                </a:solidFill>
                <a:latin typeface="Cambria" pitchFamily="34" charset="0"/>
                <a:ea typeface="Cambria" pitchFamily="34" charset="-122"/>
                <a:cs typeface="Cambria" pitchFamily="34" charset="-120"/>
              </a:rPr>
              <a:t>London: Sponsored Brand Invitations</a:t>
            </a:r>
            <a:endParaRPr lang="en-US" sz="2800" dirty="0"/>
          </a:p>
        </p:txBody>
      </p:sp>
      <p:sp>
        <p:nvSpPr>
          <p:cNvPr id="3" name="Shape 1"/>
          <p:cNvSpPr/>
          <p:nvPr/>
        </p:nvSpPr>
        <p:spPr>
          <a:xfrm>
            <a:off x="548640" y="1170432"/>
            <a:ext cx="2743200" cy="4700016"/>
          </a:xfrm>
          <a:prstGeom prst="roundRect">
            <a:avLst>
              <a:gd name="adj" fmla="val 2333"/>
            </a:avLst>
          </a:prstGeom>
          <a:solidFill>
            <a:srgbClr val="121F35"/>
          </a:solidFill>
          <a:ln w="12700">
            <a:solidFill>
              <a:srgbClr val="121F35"/>
            </a:solidFill>
            <a:prstDash val="solid"/>
          </a:ln>
        </p:spPr>
      </p:sp>
      <p:sp>
        <p:nvSpPr>
          <p:cNvPr id="4" name="Text 2"/>
          <p:cNvSpPr/>
          <p:nvPr/>
        </p:nvSpPr>
        <p:spPr>
          <a:xfrm>
            <a:off x="804672" y="1426464"/>
            <a:ext cx="2231136" cy="713232"/>
          </a:xfrm>
          <a:prstGeom prst="rect">
            <a:avLst/>
          </a:prstGeom>
          <a:noFill/>
          <a:ln/>
        </p:spPr>
        <p:txBody>
          <a:bodyPr wrap="square" lIns="0" tIns="0" rIns="0" bIns="0" rtlCol="0" anchor="ctr"/>
          <a:lstStyle/>
          <a:p>
            <a:pPr indent="0" marL="0">
              <a:lnSpc>
                <a:spcPct val="115000"/>
              </a:lnSpc>
              <a:buNone/>
            </a:pPr>
            <a:r>
              <a:rPr lang="en-US" sz="1050" b="1" spc="100" kern="0" dirty="0">
                <a:solidFill>
                  <a:srgbClr val="9FACC2"/>
                </a:solidFill>
                <a:latin typeface="Calibri" pitchFamily="34" charset="0"/>
                <a:ea typeface="Calibri" pitchFamily="34" charset="-122"/>
                <a:cs typeface="Calibri" pitchFamily="34" charset="-120"/>
              </a:rPr>
              <a:t>ADDITIONAL DIRECTLY ATTRIBUTABLE LONDON VALUE</a:t>
            </a:r>
            <a:endParaRPr lang="en-US" sz="1050" dirty="0"/>
          </a:p>
        </p:txBody>
      </p:sp>
      <p:sp>
        <p:nvSpPr>
          <p:cNvPr id="5" name="Text 3"/>
          <p:cNvSpPr/>
          <p:nvPr/>
        </p:nvSpPr>
        <p:spPr>
          <a:xfrm>
            <a:off x="804672" y="2212848"/>
            <a:ext cx="2231136" cy="731520"/>
          </a:xfrm>
          <a:prstGeom prst="rect">
            <a:avLst/>
          </a:prstGeom>
          <a:noFill/>
          <a:ln/>
        </p:spPr>
        <p:txBody>
          <a:bodyPr wrap="square" lIns="0" tIns="0" rIns="0" bIns="0" rtlCol="0" anchor="ctr"/>
          <a:lstStyle/>
          <a:p>
            <a:pPr indent="0" marL="0">
              <a:buNone/>
            </a:pPr>
            <a:r>
              <a:rPr lang="en-US" sz="3200" b="1" dirty="0">
                <a:solidFill>
                  <a:srgbClr val="D9B45B"/>
                </a:solidFill>
                <a:latin typeface="Cambria" pitchFamily="34" charset="0"/>
                <a:ea typeface="Cambria" pitchFamily="34" charset="-122"/>
                <a:cs typeface="Cambria" pitchFamily="34" charset="-120"/>
              </a:rPr>
              <a:t>£11,825</a:t>
            </a:r>
            <a:endParaRPr lang="en-US" sz="3200" dirty="0"/>
          </a:p>
        </p:txBody>
      </p:sp>
      <p:sp>
        <p:nvSpPr>
          <p:cNvPr id="6" name="Shape 4"/>
          <p:cNvSpPr/>
          <p:nvPr/>
        </p:nvSpPr>
        <p:spPr>
          <a:xfrm>
            <a:off x="804672" y="3090672"/>
            <a:ext cx="2231136" cy="0"/>
          </a:xfrm>
          <a:prstGeom prst="line">
            <a:avLst/>
          </a:prstGeom>
          <a:noFill/>
          <a:ln w="12700">
            <a:solidFill>
              <a:srgbClr val="34486B"/>
            </a:solidFill>
            <a:prstDash val="solid"/>
          </a:ln>
        </p:spPr>
      </p:sp>
      <p:sp>
        <p:nvSpPr>
          <p:cNvPr id="7" name="Text 5"/>
          <p:cNvSpPr/>
          <p:nvPr/>
        </p:nvSpPr>
        <p:spPr>
          <a:xfrm>
            <a:off x="804672" y="3255264"/>
            <a:ext cx="2231136" cy="1188720"/>
          </a:xfrm>
          <a:prstGeom prst="rect">
            <a:avLst/>
          </a:prstGeom>
          <a:noFill/>
          <a:ln/>
        </p:spPr>
        <p:txBody>
          <a:bodyPr wrap="square" lIns="0" tIns="0" rIns="0" bIns="0" rtlCol="0" anchor="t"/>
          <a:lstStyle/>
          <a:p>
            <a:pPr indent="0" marL="0">
              <a:lnSpc>
                <a:spcPct val="110000"/>
              </a:lnSpc>
              <a:buNone/>
            </a:pPr>
            <a:r>
              <a:rPr lang="en-US" sz="1100" b="1" dirty="0">
                <a:solidFill>
                  <a:srgbClr val="FFFFFF"/>
                </a:solidFill>
                <a:latin typeface="Calibri" pitchFamily="34" charset="0"/>
                <a:ea typeface="Calibri" pitchFamily="34" charset="-122"/>
                <a:cs typeface="Calibri" pitchFamily="34" charset="-120"/>
              </a:rPr>
              <a:t>£9,875</a:t>
            </a:r>
            <a:pPr indent="0" marL="0">
              <a:lnSpc>
                <a:spcPct val="110000"/>
              </a:lnSpc>
              <a:spcAft>
                <a:spcPts val="800"/>
              </a:spcAft>
              <a:buNone/>
            </a:pPr>
            <a:r>
              <a:rPr lang="en-US" sz="1100" dirty="0">
                <a:solidFill>
                  <a:srgbClr val="9FACC2"/>
                </a:solidFill>
                <a:latin typeface="Calibri" pitchFamily="34" charset="0"/>
                <a:ea typeface="Calibri" pitchFamily="34" charset="-122"/>
                <a:cs typeface="Calibri" pitchFamily="34" charset="-120"/>
              </a:rPr>
              <a:t>  up to 25 qualifying delegate places</a:t>
            </a:r>
            <a:endParaRPr lang="en-US" sz="1100" dirty="0"/>
          </a:p>
          <a:p>
            <a:pPr indent="0" marL="0">
              <a:lnSpc>
                <a:spcPct val="110000"/>
              </a:lnSpc>
              <a:buNone/>
            </a:pPr>
            <a:r>
              <a:rPr lang="en-US" sz="1100" b="1" dirty="0">
                <a:solidFill>
                  <a:srgbClr val="FFFFFF"/>
                </a:solidFill>
                <a:latin typeface="Calibri" pitchFamily="34" charset="0"/>
                <a:ea typeface="Calibri" pitchFamily="34" charset="-122"/>
                <a:cs typeface="Calibri" pitchFamily="34" charset="-120"/>
              </a:rPr>
              <a:t>£1,950</a:t>
            </a:r>
            <a:pPr indent="0" marL="0">
              <a:lnSpc>
                <a:spcPct val="110000"/>
              </a:lnSpc>
              <a:buNone/>
            </a:pPr>
            <a:r>
              <a:rPr lang="en-US" sz="1100" dirty="0">
                <a:solidFill>
                  <a:srgbClr val="9FACC2"/>
                </a:solidFill>
                <a:latin typeface="Calibri" pitchFamily="34" charset="0"/>
                <a:ea typeface="Calibri" pitchFamily="34" charset="-122"/>
                <a:cs typeface="Calibri" pitchFamily="34" charset="-120"/>
              </a:rPr>
              <a:t>  dedicated registration experience</a:t>
            </a:r>
            <a:endParaRPr lang="en-US" sz="1100" dirty="0"/>
          </a:p>
        </p:txBody>
      </p:sp>
      <p:sp>
        <p:nvSpPr>
          <p:cNvPr id="8" name="Text 6"/>
          <p:cNvSpPr/>
          <p:nvPr/>
        </p:nvSpPr>
        <p:spPr>
          <a:xfrm>
            <a:off x="804672" y="4690872"/>
            <a:ext cx="2231136" cy="914400"/>
          </a:xfrm>
          <a:prstGeom prst="rect">
            <a:avLst/>
          </a:prstGeom>
          <a:noFill/>
          <a:ln/>
        </p:spPr>
        <p:txBody>
          <a:bodyPr wrap="square" lIns="0" tIns="0" rIns="0" bIns="0" rtlCol="0" anchor="b"/>
          <a:lstStyle/>
          <a:p>
            <a:pPr indent="0" marL="0">
              <a:lnSpc>
                <a:spcPct val="115000"/>
              </a:lnSpc>
              <a:buNone/>
            </a:pPr>
            <a:r>
              <a:rPr lang="en-US" sz="1000" i="1" dirty="0">
                <a:solidFill>
                  <a:srgbClr val="9FACC2"/>
                </a:solidFill>
                <a:latin typeface="Calibri" pitchFamily="34" charset="0"/>
                <a:ea typeface="Calibri" pitchFamily="34" charset="-122"/>
                <a:cs typeface="Calibri" pitchFamily="34" charset="-120"/>
              </a:rPr>
              <a:t>Additional to Zeta's contracted packages — not a substitute for anything Zeta has bought.</a:t>
            </a:r>
            <a:endParaRPr lang="en-US" sz="1000" dirty="0"/>
          </a:p>
        </p:txBody>
      </p:sp>
      <p:sp>
        <p:nvSpPr>
          <p:cNvPr id="9" name="Shape 7"/>
          <p:cNvSpPr/>
          <p:nvPr/>
        </p:nvSpPr>
        <p:spPr>
          <a:xfrm>
            <a:off x="3493008" y="1170432"/>
            <a:ext cx="4224528" cy="4700016"/>
          </a:xfrm>
          <a:prstGeom prst="roundRect">
            <a:avLst>
              <a:gd name="adj" fmla="val 1515"/>
            </a:avLst>
          </a:prstGeom>
          <a:solidFill>
            <a:srgbClr val="F3F5F8"/>
          </a:solidFill>
          <a:ln w="12700">
            <a:solidFill>
              <a:srgbClr val="F3F5F8"/>
            </a:solidFill>
            <a:prstDash val="solid"/>
          </a:ln>
        </p:spPr>
      </p:sp>
      <p:sp>
        <p:nvSpPr>
          <p:cNvPr id="10" name="Text 8"/>
          <p:cNvSpPr/>
          <p:nvPr/>
        </p:nvSpPr>
        <p:spPr>
          <a:xfrm>
            <a:off x="3749040" y="1353312"/>
            <a:ext cx="3712464" cy="475488"/>
          </a:xfrm>
          <a:prstGeom prst="rect">
            <a:avLst/>
          </a:prstGeom>
          <a:noFill/>
          <a:ln/>
        </p:spPr>
        <p:txBody>
          <a:bodyPr wrap="square" lIns="0" tIns="0" rIns="0" bIns="0" rtlCol="0" anchor="ctr"/>
          <a:lstStyle/>
          <a:p>
            <a:pPr indent="0" marL="0">
              <a:lnSpc>
                <a:spcPct val="115000"/>
              </a:lnSpc>
              <a:buNone/>
            </a:pPr>
            <a:r>
              <a:rPr lang="en-US" sz="1050" b="1" spc="50" kern="0" dirty="0">
                <a:solidFill>
                  <a:srgbClr val="121F35"/>
                </a:solidFill>
                <a:latin typeface="Calibri" pitchFamily="34" charset="0"/>
                <a:ea typeface="Calibri" pitchFamily="34" charset="-122"/>
                <a:cs typeface="Calibri" pitchFamily="34" charset="-120"/>
              </a:rPr>
              <a:t>A · UP TO 25 QUALIFYING COMPLIMENTARY DELEGATE PLACES</a:t>
            </a:r>
            <a:endParaRPr lang="en-US" sz="1050" dirty="0"/>
          </a:p>
        </p:txBody>
      </p:sp>
      <p:sp>
        <p:nvSpPr>
          <p:cNvPr id="11" name="Text 9"/>
          <p:cNvSpPr/>
          <p:nvPr/>
        </p:nvSpPr>
        <p:spPr>
          <a:xfrm>
            <a:off x="3749040" y="1828800"/>
            <a:ext cx="3712464" cy="384048"/>
          </a:xfrm>
          <a:prstGeom prst="rect">
            <a:avLst/>
          </a:prstGeom>
          <a:noFill/>
          <a:ln/>
        </p:spPr>
        <p:txBody>
          <a:bodyPr wrap="square" lIns="0" tIns="0" rIns="0" bIns="0" rtlCol="0" anchor="ctr"/>
          <a:lstStyle/>
          <a:p>
            <a:pPr indent="0" marL="0">
              <a:buNone/>
            </a:pPr>
            <a:r>
              <a:rPr lang="en-US" sz="2100" b="1" dirty="0">
                <a:solidFill>
                  <a:srgbClr val="121F35"/>
                </a:solidFill>
                <a:latin typeface="Cambria" pitchFamily="34" charset="0"/>
                <a:ea typeface="Cambria" pitchFamily="34" charset="-122"/>
                <a:cs typeface="Cambria" pitchFamily="34" charset="-120"/>
              </a:rPr>
              <a:t>Up to 25 × £395</a:t>
            </a:r>
            <a:endParaRPr lang="en-US" sz="2100" dirty="0"/>
          </a:p>
        </p:txBody>
      </p:sp>
      <p:sp>
        <p:nvSpPr>
          <p:cNvPr id="12" name="Text 10"/>
          <p:cNvSpPr/>
          <p:nvPr/>
        </p:nvSpPr>
        <p:spPr>
          <a:xfrm>
            <a:off x="3749040" y="2212848"/>
            <a:ext cx="3712464" cy="274320"/>
          </a:xfrm>
          <a:prstGeom prst="rect">
            <a:avLst/>
          </a:prstGeom>
          <a:noFill/>
          <a:ln/>
        </p:spPr>
        <p:txBody>
          <a:bodyPr wrap="square" lIns="0" tIns="0" rIns="0" bIns="0" rtlCol="0" anchor="ctr"/>
          <a:lstStyle/>
          <a:p>
            <a:pPr indent="0" marL="0">
              <a:buNone/>
            </a:pPr>
            <a:r>
              <a:rPr lang="en-US" sz="1200" b="1" dirty="0">
                <a:solidFill>
                  <a:srgbClr val="8C6A14"/>
                </a:solidFill>
                <a:latin typeface="Calibri" pitchFamily="34" charset="0"/>
                <a:ea typeface="Calibri" pitchFamily="34" charset="-122"/>
                <a:cs typeface="Calibri" pitchFamily="34" charset="-120"/>
              </a:rPr>
              <a:t>Face value: up to £9,875</a:t>
            </a:r>
            <a:endParaRPr lang="en-US" sz="1200" dirty="0"/>
          </a:p>
        </p:txBody>
      </p:sp>
      <p:sp>
        <p:nvSpPr>
          <p:cNvPr id="13" name="Shape 11"/>
          <p:cNvSpPr/>
          <p:nvPr/>
        </p:nvSpPr>
        <p:spPr>
          <a:xfrm>
            <a:off x="3749040" y="2560320"/>
            <a:ext cx="3712464" cy="402336"/>
          </a:xfrm>
          <a:prstGeom prst="roundRect">
            <a:avLst>
              <a:gd name="adj" fmla="val 27273"/>
            </a:avLst>
          </a:prstGeom>
          <a:solidFill>
            <a:srgbClr val="EFE2BC"/>
          </a:solidFill>
          <a:ln w="12700">
            <a:solidFill>
              <a:srgbClr val="EFE2BC"/>
            </a:solidFill>
            <a:prstDash val="solid"/>
          </a:ln>
        </p:spPr>
      </p:sp>
      <p:sp>
        <p:nvSpPr>
          <p:cNvPr id="14" name="Text 12"/>
          <p:cNvSpPr/>
          <p:nvPr/>
        </p:nvSpPr>
        <p:spPr>
          <a:xfrm>
            <a:off x="3877056" y="2560320"/>
            <a:ext cx="3456432" cy="402336"/>
          </a:xfrm>
          <a:prstGeom prst="rect">
            <a:avLst/>
          </a:prstGeom>
          <a:noFill/>
          <a:ln/>
        </p:spPr>
        <p:txBody>
          <a:bodyPr wrap="square" lIns="0" tIns="0" rIns="0" bIns="0" rtlCol="0" anchor="ctr"/>
          <a:lstStyle/>
          <a:p>
            <a:pPr algn="l" indent="0" marL="0">
              <a:lnSpc>
                <a:spcPct val="105000"/>
              </a:lnSpc>
              <a:buNone/>
            </a:pPr>
            <a:r>
              <a:rPr lang="en-US" sz="900" i="1" dirty="0">
                <a:solidFill>
                  <a:srgbClr val="5F4A0E"/>
                </a:solidFill>
                <a:latin typeface="Calibri" pitchFamily="34" charset="0"/>
                <a:ea typeface="Calibri" pitchFamily="34" charset="-122"/>
                <a:cs typeface="Calibri" pitchFamily="34" charset="-120"/>
              </a:rPr>
              <a:t>2026 launch-year commitment — additional to Zeta's own contracted places</a:t>
            </a:r>
            <a:endParaRPr lang="en-US" sz="900" dirty="0"/>
          </a:p>
        </p:txBody>
      </p:sp>
      <p:sp>
        <p:nvSpPr>
          <p:cNvPr id="15" name="Text 13"/>
          <p:cNvSpPr/>
          <p:nvPr/>
        </p:nvSpPr>
        <p:spPr>
          <a:xfrm>
            <a:off x="3749040" y="3090672"/>
            <a:ext cx="3712464" cy="257860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Default of one complimentary delegate per qualifying organisation, with flexibility where emailexpert agrees a larger enterprise client group is appropriate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Named individual · non-transferable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Senior in-house practitioner or decision-maker</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Brand or end-user organisation aligned with the agreed Zeta ICP</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Vendors, agencies and consultants excluded unless specifically agreed</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Zeta may nominate both prospects and existing enterprise customers</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Final allocation remains at emailexpert's discretion, to protect the quality and balance of the Forum audience</a:t>
            </a:r>
            <a:endParaRPr lang="en-US" sz="950" dirty="0"/>
          </a:p>
        </p:txBody>
      </p:sp>
      <p:sp>
        <p:nvSpPr>
          <p:cNvPr id="16" name="Shape 14"/>
          <p:cNvSpPr/>
          <p:nvPr/>
        </p:nvSpPr>
        <p:spPr>
          <a:xfrm>
            <a:off x="7918704" y="1170432"/>
            <a:ext cx="3724351" cy="4700016"/>
          </a:xfrm>
          <a:prstGeom prst="roundRect">
            <a:avLst>
              <a:gd name="adj" fmla="val 1719"/>
            </a:avLst>
          </a:prstGeom>
          <a:solidFill>
            <a:srgbClr val="F3F5F8"/>
          </a:solidFill>
          <a:ln w="12700">
            <a:solidFill>
              <a:srgbClr val="F3F5F8"/>
            </a:solidFill>
            <a:prstDash val="solid"/>
          </a:ln>
        </p:spPr>
      </p:sp>
      <p:sp>
        <p:nvSpPr>
          <p:cNvPr id="17" name="Text 15"/>
          <p:cNvSpPr/>
          <p:nvPr/>
        </p:nvSpPr>
        <p:spPr>
          <a:xfrm>
            <a:off x="8174736" y="1353312"/>
            <a:ext cx="3212287" cy="475488"/>
          </a:xfrm>
          <a:prstGeom prst="rect">
            <a:avLst/>
          </a:prstGeom>
          <a:noFill/>
          <a:ln/>
        </p:spPr>
        <p:txBody>
          <a:bodyPr wrap="square" lIns="0" tIns="0" rIns="0" bIns="0" rtlCol="0" anchor="ctr"/>
          <a:lstStyle/>
          <a:p>
            <a:pPr indent="0" marL="0">
              <a:lnSpc>
                <a:spcPct val="115000"/>
              </a:lnSpc>
              <a:buNone/>
            </a:pPr>
            <a:r>
              <a:rPr lang="en-US" sz="1050" b="1" spc="50" kern="0" dirty="0">
                <a:solidFill>
                  <a:srgbClr val="121F35"/>
                </a:solidFill>
                <a:latin typeface="Calibri" pitchFamily="34" charset="0"/>
                <a:ea typeface="Calibri" pitchFamily="34" charset="-122"/>
                <a:cs typeface="Calibri" pitchFamily="34" charset="-120"/>
              </a:rPr>
              <a:t>B · DEDICATED ZETA × FORUM REGISTRATION EXPERIENCE</a:t>
            </a:r>
            <a:endParaRPr lang="en-US" sz="1050" dirty="0"/>
          </a:p>
        </p:txBody>
      </p:sp>
      <p:sp>
        <p:nvSpPr>
          <p:cNvPr id="18" name="Text 16"/>
          <p:cNvSpPr/>
          <p:nvPr/>
        </p:nvSpPr>
        <p:spPr>
          <a:xfrm>
            <a:off x="8174736" y="1847088"/>
            <a:ext cx="3212287" cy="402336"/>
          </a:xfrm>
          <a:prstGeom prst="rect">
            <a:avLst/>
          </a:prstGeom>
          <a:noFill/>
          <a:ln/>
        </p:spPr>
        <p:txBody>
          <a:bodyPr wrap="square" lIns="0" tIns="0" rIns="0" bIns="0" rtlCol="0" anchor="ctr"/>
          <a:lstStyle/>
          <a:p>
            <a:pPr indent="0" marL="0">
              <a:buNone/>
            </a:pPr>
            <a:r>
              <a:rPr lang="en-US" sz="1200" b="1" dirty="0">
                <a:solidFill>
                  <a:srgbClr val="121F35"/>
                </a:solidFill>
                <a:latin typeface="Calibri" pitchFamily="34" charset="0"/>
                <a:ea typeface="Calibri" pitchFamily="34" charset="-122"/>
                <a:cs typeface="Calibri" pitchFamily="34" charset="-120"/>
              </a:rPr>
              <a:t>Attributed value </a:t>
            </a:r>
            <a:pPr indent="0" marL="0">
              <a:buNone/>
            </a:pPr>
            <a:r>
              <a:rPr lang="en-US" sz="2100" b="1" dirty="0">
                <a:solidFill>
                  <a:srgbClr val="8C6A14"/>
                </a:solidFill>
                <a:latin typeface="Cambria" pitchFamily="34" charset="0"/>
                <a:ea typeface="Cambria" pitchFamily="34" charset="-122"/>
                <a:cs typeface="Cambria" pitchFamily="34" charset="-120"/>
              </a:rPr>
              <a:t>£1,950</a:t>
            </a:r>
            <a:endParaRPr lang="en-US" sz="1200" dirty="0"/>
          </a:p>
        </p:txBody>
      </p:sp>
      <p:sp>
        <p:nvSpPr>
          <p:cNvPr id="19" name="Text 17"/>
          <p:cNvSpPr/>
          <p:nvPr/>
        </p:nvSpPr>
        <p:spPr>
          <a:xfrm>
            <a:off x="8174736" y="2322576"/>
            <a:ext cx="3212287" cy="3328416"/>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Co-branded Zeta Global × FORUM London landing page, hosted on thelondonforum.com — both Zeta and emailexpert may drive traffic to it</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Clear disclosure above the registration form that the complimentary place is sponsored by Zeta</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Registration through this sponsored route shares name, job title, company and business email with Zeta</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Clear alternative route to buy a normal Forum ticket for anyone who prefers not to register through the sponsored Zeta route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Complimentary place confirmed only after qualification</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Weekly export to one named Zeta recipient</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Dietary information, accessibility information and emailexpert marketing preferences remain with emailexpert</a:t>
            </a:r>
            <a:endParaRPr lang="en-US" sz="950" dirty="0"/>
          </a:p>
        </p:txBody>
      </p:sp>
      <p:sp>
        <p:nvSpPr>
          <p:cNvPr id="20" name="Text 18"/>
          <p:cNvSpPr/>
          <p:nvPr/>
        </p:nvSpPr>
        <p:spPr>
          <a:xfrm>
            <a:off x="548640" y="6053328"/>
            <a:ext cx="11094415" cy="411480"/>
          </a:xfrm>
          <a:prstGeom prst="rect">
            <a:avLst/>
          </a:prstGeom>
          <a:noFill/>
          <a:ln/>
        </p:spPr>
        <p:txBody>
          <a:bodyPr wrap="square" lIns="0" tIns="0" rIns="0" bIns="0" rtlCol="0" anchor="ctr"/>
          <a:lstStyle/>
          <a:p>
            <a:pPr indent="0" marL="0">
              <a:buNone/>
            </a:pPr>
            <a:r>
              <a:rPr lang="en-US" sz="1300" b="1" dirty="0">
                <a:solidFill>
                  <a:srgbClr val="121F35"/>
                </a:solidFill>
                <a:latin typeface="Calibri" pitchFamily="34" charset="0"/>
                <a:ea typeface="Calibri" pitchFamily="34" charset="-122"/>
                <a:cs typeface="Calibri" pitchFamily="34" charset="-120"/>
              </a:rPr>
              <a:t>Additional directly attributable London value: </a:t>
            </a:r>
            <a:pPr indent="0" marL="0">
              <a:buNone/>
            </a:pPr>
            <a:r>
              <a:rPr lang="en-US" sz="1600" b="1" dirty="0">
                <a:solidFill>
                  <a:srgbClr val="8C6A14"/>
                </a:solidFill>
                <a:latin typeface="Cambria" pitchFamily="34" charset="0"/>
                <a:ea typeface="Cambria" pitchFamily="34" charset="-122"/>
                <a:cs typeface="Cambria" pitchFamily="34" charset="-120"/>
              </a:rPr>
              <a:t>£11,825</a:t>
            </a:r>
            <a:pPr indent="0" marL="0">
              <a:buNone/>
            </a:pPr>
            <a:r>
              <a:rPr lang="en-US" sz="1000" i="1" dirty="0">
                <a:solidFill>
                  <a:srgbClr val="55637A"/>
                </a:solidFill>
                <a:latin typeface="Calibri" pitchFamily="34" charset="0"/>
                <a:ea typeface="Calibri" pitchFamily="34" charset="-122"/>
                <a:cs typeface="Calibri" pitchFamily="34" charset="-120"/>
              </a:rPr>
              <a:t>      2026 launch-year commitment; not an automatically renewing entitlement.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800" b="1" dirty="0">
                <a:solidFill>
                  <a:srgbClr val="121F35"/>
                </a:solidFill>
                <a:latin typeface="Cambria" pitchFamily="34" charset="0"/>
                <a:ea typeface="Cambria" pitchFamily="34" charset="-122"/>
                <a:cs typeface="Cambria" pitchFamily="34" charset="-120"/>
              </a:rPr>
              <a:t>London: From Attendance to Meaningful Conversations</a:t>
            </a:r>
            <a:endParaRPr lang="en-US" sz="2800" dirty="0"/>
          </a:p>
        </p:txBody>
      </p:sp>
      <p:sp>
        <p:nvSpPr>
          <p:cNvPr id="3" name="Shape 1"/>
          <p:cNvSpPr/>
          <p:nvPr/>
        </p:nvSpPr>
        <p:spPr>
          <a:xfrm>
            <a:off x="548640" y="1170432"/>
            <a:ext cx="1554480" cy="292608"/>
          </a:xfrm>
          <a:prstGeom prst="roundRect">
            <a:avLst>
              <a:gd name="adj" fmla="val 50000"/>
            </a:avLst>
          </a:prstGeom>
          <a:solidFill>
            <a:srgbClr val="121F35"/>
          </a:solidFill>
          <a:ln w="12700">
            <a:solidFill>
              <a:srgbClr val="121F35"/>
            </a:solidFill>
            <a:prstDash val="solid"/>
          </a:ln>
        </p:spPr>
      </p:sp>
      <p:sp>
        <p:nvSpPr>
          <p:cNvPr id="4" name="Text 2"/>
          <p:cNvSpPr/>
          <p:nvPr/>
        </p:nvSpPr>
        <p:spPr>
          <a:xfrm>
            <a:off x="548640" y="1170432"/>
            <a:ext cx="1554480" cy="292608"/>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CONTRACTUAL</a:t>
            </a:r>
            <a:endParaRPr lang="en-US" sz="950" dirty="0"/>
          </a:p>
        </p:txBody>
      </p:sp>
      <p:sp>
        <p:nvSpPr>
          <p:cNvPr id="5" name="Shape 3"/>
          <p:cNvSpPr/>
          <p:nvPr/>
        </p:nvSpPr>
        <p:spPr>
          <a:xfrm>
            <a:off x="6583680" y="1170432"/>
            <a:ext cx="3931920" cy="292608"/>
          </a:xfrm>
          <a:prstGeom prst="roundRect">
            <a:avLst>
              <a:gd name="adj" fmla="val 50000"/>
            </a:avLst>
          </a:prstGeom>
          <a:solidFill>
            <a:srgbClr val="EFE2BC"/>
          </a:solidFill>
          <a:ln w="12700">
            <a:solidFill>
              <a:srgbClr val="EFE2BC"/>
            </a:solidFill>
            <a:prstDash val="solid"/>
          </a:ln>
        </p:spPr>
      </p:sp>
      <p:sp>
        <p:nvSpPr>
          <p:cNvPr id="6" name="Text 4"/>
          <p:cNvSpPr/>
          <p:nvPr/>
        </p:nvSpPr>
        <p:spPr>
          <a:xfrm>
            <a:off x="6583680" y="1170432"/>
            <a:ext cx="3931920" cy="292608"/>
          </a:xfrm>
          <a:prstGeom prst="rect">
            <a:avLst/>
          </a:prstGeom>
          <a:noFill/>
          <a:ln/>
        </p:spPr>
        <p:txBody>
          <a:bodyPr wrap="square" lIns="0" tIns="0" rIns="0" bIns="0" rtlCol="0" anchor="ctr"/>
          <a:lstStyle/>
          <a:p>
            <a:pPr algn="ctr" indent="0" marL="0">
              <a:buNone/>
            </a:pPr>
            <a:r>
              <a:rPr lang="en-US" sz="950" b="1" spc="200" kern="0" dirty="0">
                <a:solidFill>
                  <a:srgbClr val="5F4A0E"/>
                </a:solidFill>
                <a:latin typeface="Calibri" pitchFamily="34" charset="0"/>
                <a:ea typeface="Calibri" pitchFamily="34" charset="-122"/>
                <a:cs typeface="Calibri" pitchFamily="34" charset="-120"/>
              </a:rPr>
              <a:t>ADDITIONAL EMAILEXPERT COMMITMENT</a:t>
            </a:r>
            <a:endParaRPr lang="en-US" sz="950" dirty="0"/>
          </a:p>
        </p:txBody>
      </p:sp>
      <p:sp>
        <p:nvSpPr>
          <p:cNvPr id="7" name="Shape 5"/>
          <p:cNvSpPr/>
          <p:nvPr/>
        </p:nvSpPr>
        <p:spPr>
          <a:xfrm>
            <a:off x="548640" y="1609344"/>
            <a:ext cx="5806440" cy="4864608"/>
          </a:xfrm>
          <a:prstGeom prst="roundRect">
            <a:avLst>
              <a:gd name="adj" fmla="val 1316"/>
            </a:avLst>
          </a:prstGeom>
          <a:solidFill>
            <a:srgbClr val="F3F5F8"/>
          </a:solidFill>
          <a:ln w="12700">
            <a:solidFill>
              <a:srgbClr val="F3F5F8"/>
            </a:solidFill>
            <a:prstDash val="solid"/>
          </a:ln>
        </p:spPr>
      </p:sp>
      <p:sp>
        <p:nvSpPr>
          <p:cNvPr id="8" name="Text 6"/>
          <p:cNvSpPr/>
          <p:nvPr/>
        </p:nvSpPr>
        <p:spPr>
          <a:xfrm>
            <a:off x="822960" y="1773936"/>
            <a:ext cx="5257800" cy="274320"/>
          </a:xfrm>
          <a:prstGeom prst="rect">
            <a:avLst/>
          </a:prstGeom>
          <a:noFill/>
          <a:ln/>
        </p:spPr>
        <p:txBody>
          <a:bodyPr wrap="square" lIns="0" tIns="0" rIns="0" bIns="0" rtlCol="0" anchor="ctr"/>
          <a:lstStyle/>
          <a:p>
            <a:pPr indent="0" marL="0">
              <a:buNone/>
            </a:pPr>
            <a:r>
              <a:rPr lang="en-US" sz="1100" b="1" spc="200" kern="0" dirty="0">
                <a:solidFill>
                  <a:srgbClr val="121F35"/>
                </a:solidFill>
                <a:latin typeface="Calibri" pitchFamily="34" charset="0"/>
                <a:ea typeface="Calibri" pitchFamily="34" charset="-122"/>
                <a:cs typeface="Calibri" pitchFamily="34" charset="-120"/>
              </a:rPr>
              <a:t>THE PLATINUM PACKAGE</a:t>
            </a:r>
            <a:endParaRPr lang="en-US" sz="1100" dirty="0"/>
          </a:p>
        </p:txBody>
      </p:sp>
      <p:sp>
        <p:nvSpPr>
          <p:cNvPr id="9" name="Text 7"/>
          <p:cNvSpPr/>
          <p:nvPr/>
        </p:nvSpPr>
        <p:spPr>
          <a:xfrm>
            <a:off x="822960" y="2084832"/>
            <a:ext cx="5257800" cy="2057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One of only two Platinum Partner positions</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Premium main-hall exhibitor presence, with additional networking-area branding</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Photocall, badge, screen and stage recognition as provided in the agreement</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Prominent pre-event, onsite and post-event recognition</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20–30 minute programme session</a:t>
            </a:r>
            <a:endParaRPr lang="en-US" sz="1050" dirty="0"/>
          </a:p>
          <a:p>
            <a:pPr marL="127000" indent="-127000">
              <a:spcAft>
                <a:spcPts val="500"/>
              </a:spcAft>
              <a:buSzPct val="100000"/>
              <a:buChar char="•"/>
            </a:pPr>
            <a:r>
              <a:rPr lang="en-US" sz="1050" dirty="0">
                <a:solidFill>
                  <a:srgbClr val="273349"/>
                </a:solidFill>
                <a:latin typeface="Calibri" pitchFamily="34" charset="0"/>
                <a:ea typeface="Calibri" pitchFamily="34" charset="-122"/>
                <a:cs typeface="Calibri" pitchFamily="34" charset="-120"/>
              </a:rPr>
              <a:t>6 observer passes for invited prospects, clients and partners — not additional delegate inventory</a:t>
            </a:r>
            <a:endParaRPr lang="en-US" sz="1050" dirty="0"/>
          </a:p>
        </p:txBody>
      </p:sp>
      <p:sp>
        <p:nvSpPr>
          <p:cNvPr id="10" name="Text 8"/>
          <p:cNvSpPr/>
          <p:nvPr/>
        </p:nvSpPr>
        <p:spPr>
          <a:xfrm>
            <a:off x="822960" y="4224528"/>
            <a:ext cx="5257800" cy="713232"/>
          </a:xfrm>
          <a:prstGeom prst="rect">
            <a:avLst/>
          </a:prstGeom>
          <a:noFill/>
          <a:ln/>
        </p:spPr>
        <p:txBody>
          <a:bodyPr wrap="square" lIns="0" tIns="0" rIns="0" bIns="0" rtlCol="0" anchor="ctr"/>
          <a:lstStyle/>
          <a:p>
            <a:pPr indent="0" marL="0">
              <a:lnSpc>
                <a:spcPct val="112000"/>
              </a:lnSpc>
              <a:buNone/>
            </a:pPr>
            <a:r>
              <a:rPr lang="en-US" sz="1000" i="1" dirty="0">
                <a:solidFill>
                  <a:srgbClr val="55637A"/>
                </a:solidFill>
                <a:latin typeface="Calibri" pitchFamily="34" charset="0"/>
                <a:ea typeface="Calibri" pitchFamily="34" charset="-122"/>
                <a:cs typeface="Calibri" pitchFamily="34" charset="-120"/>
              </a:rPr>
              <a:t>The 20–30 minute session can be shaped as a Zeta-led contribution, a Zeta + customer presentation, a practitioner case study, a panel, or another substantive format that suits the programme and audience.</a:t>
            </a:r>
            <a:endParaRPr lang="en-US" sz="1000" dirty="0"/>
          </a:p>
        </p:txBody>
      </p:sp>
      <p:sp>
        <p:nvSpPr>
          <p:cNvPr id="11" name="Shape 9"/>
          <p:cNvSpPr/>
          <p:nvPr/>
        </p:nvSpPr>
        <p:spPr>
          <a:xfrm>
            <a:off x="822960" y="5047488"/>
            <a:ext cx="5257800" cy="1243584"/>
          </a:xfrm>
          <a:prstGeom prst="roundRect">
            <a:avLst>
              <a:gd name="adj" fmla="val 5147"/>
            </a:avLst>
          </a:prstGeom>
          <a:solidFill>
            <a:srgbClr val="FFFFFF"/>
          </a:solidFill>
          <a:ln w="12700">
            <a:solidFill>
              <a:srgbClr val="D9DFE8"/>
            </a:solidFill>
            <a:prstDash val="solid"/>
          </a:ln>
        </p:spPr>
      </p:sp>
      <p:sp>
        <p:nvSpPr>
          <p:cNvPr id="12" name="Text 10"/>
          <p:cNvSpPr/>
          <p:nvPr/>
        </p:nvSpPr>
        <p:spPr>
          <a:xfrm>
            <a:off x="969264" y="5157216"/>
            <a:ext cx="4965192" cy="1042416"/>
          </a:xfrm>
          <a:prstGeom prst="rect">
            <a:avLst/>
          </a:prstGeom>
          <a:noFill/>
          <a:ln/>
        </p:spPr>
        <p:txBody>
          <a:bodyPr wrap="square" lIns="0" tIns="0" rIns="0" bIns="0" rtlCol="0" anchor="t"/>
          <a:lstStyle/>
          <a:p>
            <a:pPr indent="0" marL="0">
              <a:lnSpc>
                <a:spcPct val="110000"/>
              </a:lnSpc>
              <a:spcAft>
                <a:spcPts val="300"/>
              </a:spcAft>
              <a:buNone/>
            </a:pPr>
            <a:r>
              <a:rPr lang="en-US" sz="1000" b="1" dirty="0">
                <a:solidFill>
                  <a:srgbClr val="121F35"/>
                </a:solidFill>
                <a:latin typeface="Calibri" pitchFamily="34" charset="0"/>
                <a:ea typeface="Calibri" pitchFamily="34" charset="-122"/>
                <a:cs typeface="Calibri" pitchFamily="34" charset="-120"/>
              </a:rPr>
              <a:t>Standard delegate directory</a:t>
            </a:r>
            <a:endParaRPr lang="en-US" sz="1000" dirty="0"/>
          </a:p>
          <a:p>
            <a:pPr indent="0" marL="0">
              <a:lnSpc>
                <a:spcPct val="110000"/>
              </a:lnSpc>
              <a:buNone/>
            </a:pPr>
            <a:r>
              <a:rPr lang="en-US" sz="950" dirty="0">
                <a:solidFill>
                  <a:srgbClr val="55637A"/>
                </a:solidFill>
                <a:latin typeface="Calibri" pitchFamily="34" charset="0"/>
                <a:ea typeface="Calibri" pitchFamily="34" charset="-122"/>
                <a:cs typeface="Calibri" pitchFamily="34" charset="-120"/>
              </a:rPr>
              <a:t>Registered delegates have access to the normal Forum delegate information made available to other attendees — name · job title · organisation — subject to attendee opt-out. No email address, no telephone number, no implied marketing permission. Separate from the Zeta-sponsored landing-page data flow.</a:t>
            </a:r>
            <a:endParaRPr lang="en-US" sz="1000" dirty="0"/>
          </a:p>
        </p:txBody>
      </p:sp>
      <p:sp>
        <p:nvSpPr>
          <p:cNvPr id="13" name="Shape 11"/>
          <p:cNvSpPr/>
          <p:nvPr/>
        </p:nvSpPr>
        <p:spPr>
          <a:xfrm>
            <a:off x="6583680" y="1609344"/>
            <a:ext cx="5059375" cy="4864608"/>
          </a:xfrm>
          <a:prstGeom prst="roundRect">
            <a:avLst>
              <a:gd name="adj" fmla="val 1316"/>
            </a:avLst>
          </a:prstGeom>
          <a:solidFill>
            <a:srgbClr val="FAF6EA"/>
          </a:solidFill>
          <a:ln w="12700">
            <a:solidFill>
              <a:srgbClr val="E5D9B4"/>
            </a:solidFill>
            <a:prstDash val="solid"/>
          </a:ln>
        </p:spPr>
      </p:sp>
      <p:sp>
        <p:nvSpPr>
          <p:cNvPr id="14" name="Text 12"/>
          <p:cNvSpPr/>
          <p:nvPr/>
        </p:nvSpPr>
        <p:spPr>
          <a:xfrm>
            <a:off x="6858000" y="1792224"/>
            <a:ext cx="1234440" cy="868680"/>
          </a:xfrm>
          <a:prstGeom prst="rect">
            <a:avLst/>
          </a:prstGeom>
          <a:noFill/>
          <a:ln/>
        </p:spPr>
        <p:txBody>
          <a:bodyPr wrap="square" lIns="0" tIns="0" rIns="0" bIns="0" rtlCol="0" anchor="ctr"/>
          <a:lstStyle/>
          <a:p>
            <a:pPr indent="0" marL="0">
              <a:buNone/>
            </a:pPr>
            <a:r>
              <a:rPr lang="en-US" sz="4400" b="1" dirty="0">
                <a:solidFill>
                  <a:srgbClr val="8C6A14"/>
                </a:solidFill>
                <a:latin typeface="Cambria" pitchFamily="34" charset="0"/>
                <a:ea typeface="Cambria" pitchFamily="34" charset="-122"/>
                <a:cs typeface="Cambria" pitchFamily="34" charset="-120"/>
              </a:rPr>
              <a:t>6–9</a:t>
            </a:r>
            <a:endParaRPr lang="en-US" sz="4400" dirty="0"/>
          </a:p>
        </p:txBody>
      </p:sp>
      <p:sp>
        <p:nvSpPr>
          <p:cNvPr id="15" name="Text 13"/>
          <p:cNvSpPr/>
          <p:nvPr/>
        </p:nvSpPr>
        <p:spPr>
          <a:xfrm>
            <a:off x="8183880" y="1737360"/>
            <a:ext cx="3184855" cy="987552"/>
          </a:xfrm>
          <a:prstGeom prst="rect">
            <a:avLst/>
          </a:prstGeom>
          <a:noFill/>
          <a:ln/>
        </p:spPr>
        <p:txBody>
          <a:bodyPr wrap="square" lIns="0" tIns="0" rIns="0" bIns="0" rtlCol="0" anchor="ctr"/>
          <a:lstStyle/>
          <a:p>
            <a:pPr indent="0" marL="0">
              <a:lnSpc>
                <a:spcPct val="110000"/>
              </a:lnSpc>
              <a:buNone/>
            </a:pPr>
            <a:r>
              <a:rPr lang="en-US" sz="1150" b="1" dirty="0">
                <a:solidFill>
                  <a:srgbClr val="121F35"/>
                </a:solidFill>
                <a:latin typeface="Calibri" pitchFamily="34" charset="0"/>
                <a:ea typeface="Calibri" pitchFamily="34" charset="-122"/>
                <a:cs typeface="Calibri" pitchFamily="34" charset="-120"/>
              </a:rPr>
              <a:t>facilitated London activations — a concentrated London block within the annual partnership commitment</a:t>
            </a:r>
            <a:endParaRPr lang="en-US" sz="1150" dirty="0"/>
          </a:p>
        </p:txBody>
      </p:sp>
      <p:sp>
        <p:nvSpPr>
          <p:cNvPr id="16" name="Shape 14"/>
          <p:cNvSpPr/>
          <p:nvPr/>
        </p:nvSpPr>
        <p:spPr>
          <a:xfrm>
            <a:off x="6858000" y="2816352"/>
            <a:ext cx="4510735" cy="1207008"/>
          </a:xfrm>
          <a:prstGeom prst="roundRect">
            <a:avLst>
              <a:gd name="adj" fmla="val 5303"/>
            </a:avLst>
          </a:prstGeom>
          <a:solidFill>
            <a:srgbClr val="FFFFFF"/>
          </a:solidFill>
          <a:ln w="12700">
            <a:solidFill>
              <a:srgbClr val="E5D9B4"/>
            </a:solidFill>
            <a:prstDash val="solid"/>
          </a:ln>
        </p:spPr>
      </p:sp>
      <p:sp>
        <p:nvSpPr>
          <p:cNvPr id="17" name="Text 15"/>
          <p:cNvSpPr/>
          <p:nvPr/>
        </p:nvSpPr>
        <p:spPr>
          <a:xfrm>
            <a:off x="7022592" y="2926080"/>
            <a:ext cx="4181551" cy="1005840"/>
          </a:xfrm>
          <a:prstGeom prst="rect">
            <a:avLst/>
          </a:prstGeom>
          <a:noFill/>
          <a:ln/>
        </p:spPr>
        <p:txBody>
          <a:bodyPr wrap="square" lIns="0" tIns="0" rIns="0" bIns="0" rtlCol="0" anchor="t"/>
          <a:lstStyle/>
          <a:p>
            <a:pPr indent="0" marL="0">
              <a:lnSpc>
                <a:spcPct val="110000"/>
              </a:lnSpc>
              <a:spcAft>
                <a:spcPts val="300"/>
              </a:spcAft>
              <a:buNone/>
            </a:pPr>
            <a:r>
              <a:rPr lang="en-US" sz="1050" b="1" dirty="0">
                <a:solidFill>
                  <a:srgbClr val="121F35"/>
                </a:solidFill>
                <a:latin typeface="Calibri" pitchFamily="34" charset="0"/>
                <a:ea typeface="Calibri" pitchFamily="34" charset="-122"/>
                <a:cs typeface="Calibri" pitchFamily="34" charset="-120"/>
              </a:rPr>
              <a:t>London activation</a:t>
            </a:r>
            <a:endParaRPr lang="en-US" sz="1050" dirty="0"/>
          </a:p>
          <a:p>
            <a:pPr indent="0" marL="0">
              <a:lnSpc>
                <a:spcPct val="110000"/>
              </a:lnSpc>
              <a:buNone/>
            </a:pPr>
            <a:r>
              <a:rPr lang="en-US" sz="1000" dirty="0">
                <a:solidFill>
                  <a:srgbClr val="55637A"/>
                </a:solidFill>
                <a:latin typeface="Calibri" pitchFamily="34" charset="0"/>
                <a:ea typeface="Calibri" pitchFamily="34" charset="-122"/>
                <a:cs typeface="Calibri" pitchFamily="34" charset="-120"/>
              </a:rPr>
              <a:t>A facilitated introduction or curated conversation between a named Zeta representative and a named qualified attendee, agreed in advance and delivered onsite or in the run-up to the Forum.</a:t>
            </a:r>
            <a:endParaRPr lang="en-US" sz="1050" dirty="0"/>
          </a:p>
        </p:txBody>
      </p:sp>
      <p:sp>
        <p:nvSpPr>
          <p:cNvPr id="18" name="Text 16"/>
          <p:cNvSpPr/>
          <p:nvPr/>
        </p:nvSpPr>
        <p:spPr>
          <a:xfrm>
            <a:off x="6858000" y="4206240"/>
            <a:ext cx="4510735" cy="457200"/>
          </a:xfrm>
          <a:prstGeom prst="rect">
            <a:avLst/>
          </a:prstGeom>
          <a:noFill/>
          <a:ln/>
        </p:spPr>
        <p:txBody>
          <a:bodyPr wrap="square" lIns="0" tIns="0" rIns="0" bIns="0" rtlCol="0" anchor="ctr"/>
          <a:lstStyle/>
          <a:p>
            <a:pPr indent="0" marL="0">
              <a:lnSpc>
                <a:spcPct val="110000"/>
              </a:lnSpc>
              <a:buNone/>
            </a:pPr>
            <a:r>
              <a:rPr lang="en-US" sz="1100" b="1" dirty="0">
                <a:solidFill>
                  <a:srgbClr val="121F35"/>
                </a:solidFill>
                <a:latin typeface="Calibri" pitchFamily="34" charset="0"/>
                <a:ea typeface="Calibri" pitchFamily="34" charset="-122"/>
                <a:cs typeface="Calibri" pitchFamily="34" charset="-120"/>
              </a:rPr>
              <a:t>A complimentary ticket being accepted does not itself count as an activation.</a:t>
            </a:r>
            <a:endParaRPr lang="en-US" sz="1100" dirty="0"/>
          </a:p>
        </p:txBody>
      </p:sp>
      <p:sp>
        <p:nvSpPr>
          <p:cNvPr id="19" name="Shape 17"/>
          <p:cNvSpPr/>
          <p:nvPr/>
        </p:nvSpPr>
        <p:spPr>
          <a:xfrm>
            <a:off x="6858000" y="4791456"/>
            <a:ext cx="4510735" cy="0"/>
          </a:xfrm>
          <a:prstGeom prst="line">
            <a:avLst/>
          </a:prstGeom>
          <a:noFill/>
          <a:ln w="12700">
            <a:solidFill>
              <a:srgbClr val="E5D9B4"/>
            </a:solidFill>
            <a:prstDash val="solid"/>
          </a:ln>
        </p:spPr>
      </p:sp>
      <p:sp>
        <p:nvSpPr>
          <p:cNvPr id="20" name="Text 18"/>
          <p:cNvSpPr/>
          <p:nvPr/>
        </p:nvSpPr>
        <p:spPr>
          <a:xfrm>
            <a:off x="6858000" y="4919472"/>
            <a:ext cx="4510735" cy="1371600"/>
          </a:xfrm>
          <a:prstGeom prst="rect">
            <a:avLst/>
          </a:prstGeom>
          <a:noFill/>
          <a:ln/>
        </p:spPr>
        <p:txBody>
          <a:bodyPr wrap="square" lIns="0" tIns="0" rIns="0" bIns="0" rtlCol="0" anchor="t"/>
          <a:lstStyle/>
          <a:p>
            <a:pPr indent="0" marL="0">
              <a:lnSpc>
                <a:spcPct val="115000"/>
              </a:lnSpc>
              <a:buNone/>
            </a:pPr>
            <a:r>
              <a:rPr lang="en-US" sz="1050" dirty="0">
                <a:solidFill>
                  <a:srgbClr val="273349"/>
                </a:solidFill>
                <a:latin typeface="Calibri" pitchFamily="34" charset="0"/>
                <a:ea typeface="Calibri" pitchFamily="34" charset="-122"/>
                <a:cs typeface="Calibri" pitchFamily="34" charset="-120"/>
              </a:rPr>
              <a:t>The 6–9 London activations may count toward the minimum 12 meaningful partnership activations across the membership year. Separately sponsored activations, such as Breakfast or Gala, increase the total opportunity set.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indent="0" marL="0">
              <a:buNone/>
            </a:pPr>
            <a:r>
              <a:rPr lang="en-US" sz="2800" b="1" dirty="0">
                <a:solidFill>
                  <a:srgbClr val="121F35"/>
                </a:solidFill>
                <a:latin typeface="Cambria" pitchFamily="34" charset="0"/>
                <a:ea typeface="Cambria" pitchFamily="34" charset="-122"/>
                <a:cs typeface="Cambria" pitchFamily="34" charset="-120"/>
              </a:rPr>
              <a:t>Turning the plan into action</a:t>
            </a:r>
            <a:endParaRPr lang="en-US" sz="28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indent="0" marL="0">
              <a:buNone/>
            </a:pPr>
            <a:r>
              <a:rPr lang="en-US" sz="1300" dirty="0">
                <a:solidFill>
                  <a:srgbClr val="55637A"/>
                </a:solidFill>
                <a:latin typeface="Calibri" pitchFamily="34" charset="0"/>
                <a:ea typeface="Calibri" pitchFamily="34" charset="-122"/>
                <a:cs typeface="Calibri" pitchFamily="34" charset="-120"/>
              </a:rPr>
              <a:t>What we need from Zeta now</a:t>
            </a:r>
            <a:endParaRPr lang="en-US" sz="1300" dirty="0"/>
          </a:p>
        </p:txBody>
      </p:sp>
      <p:sp>
        <p:nvSpPr>
          <p:cNvPr id="4" name="Shape 2"/>
          <p:cNvSpPr/>
          <p:nvPr/>
        </p:nvSpPr>
        <p:spPr>
          <a:xfrm>
            <a:off x="548640" y="1371600"/>
            <a:ext cx="3545738" cy="2395728"/>
          </a:xfrm>
          <a:prstGeom prst="roundRect">
            <a:avLst>
              <a:gd name="adj" fmla="val 2672"/>
            </a:avLst>
          </a:prstGeom>
          <a:solidFill>
            <a:srgbClr val="F3F5F8"/>
          </a:solidFill>
          <a:ln w="12700">
            <a:solidFill>
              <a:srgbClr val="F3F5F8"/>
            </a:solidFill>
            <a:prstDash val="solid"/>
          </a:ln>
        </p:spPr>
      </p:sp>
      <p:sp>
        <p:nvSpPr>
          <p:cNvPr id="5" name="Text 3"/>
          <p:cNvSpPr/>
          <p:nvPr/>
        </p:nvSpPr>
        <p:spPr>
          <a:xfrm>
            <a:off x="768096" y="1517904"/>
            <a:ext cx="3106826" cy="256032"/>
          </a:xfrm>
          <a:prstGeom prst="rect">
            <a:avLst/>
          </a:prstGeom>
          <a:noFill/>
          <a:ln/>
        </p:spPr>
        <p:txBody>
          <a:bodyPr wrap="square" lIns="0" tIns="0" rIns="0" bIns="0" rtlCol="0" anchor="ctr"/>
          <a:lstStyle/>
          <a:p>
            <a:pPr indent="0" marL="0">
              <a:buNone/>
            </a:pPr>
            <a:r>
              <a:rPr lang="en-US" sz="1050" b="1" spc="150" kern="0" dirty="0">
                <a:solidFill>
                  <a:srgbClr val="121F35"/>
                </a:solidFill>
                <a:latin typeface="Calibri" pitchFamily="34" charset="0"/>
                <a:ea typeface="Calibri" pitchFamily="34" charset="-122"/>
                <a:cs typeface="Calibri" pitchFamily="34" charset="-120"/>
              </a:rPr>
              <a:t>AUDIENCE</a:t>
            </a:r>
            <a:endParaRPr lang="en-US" sz="1050" dirty="0"/>
          </a:p>
        </p:txBody>
      </p:sp>
      <p:sp>
        <p:nvSpPr>
          <p:cNvPr id="6" name="Shape 4"/>
          <p:cNvSpPr/>
          <p:nvPr/>
        </p:nvSpPr>
        <p:spPr>
          <a:xfrm>
            <a:off x="768096" y="1828800"/>
            <a:ext cx="3106826" cy="0"/>
          </a:xfrm>
          <a:prstGeom prst="line">
            <a:avLst/>
          </a:prstGeom>
          <a:noFill/>
          <a:ln w="12700">
            <a:solidFill>
              <a:srgbClr val="D9DFE8"/>
            </a:solidFill>
            <a:prstDash val="solid"/>
          </a:ln>
        </p:spPr>
      </p:sp>
      <p:sp>
        <p:nvSpPr>
          <p:cNvPr id="7" name="Text 5"/>
          <p:cNvSpPr/>
          <p:nvPr/>
        </p:nvSpPr>
        <p:spPr>
          <a:xfrm>
            <a:off x="768096" y="1938528"/>
            <a:ext cx="3106826" cy="1645920"/>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Approximately 50 priority organisations, with known senior contacts and personas where available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The 10–12 highest-priority individuals</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Agreed ICP and qualification criteria</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Relative sector priority: Retail &amp; Grocery · Financial Services · Travel · enterprise and multi-location restaurant groups</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Named Zeta owner for Zeta's own outreach</a:t>
            </a:r>
            <a:endParaRPr lang="en-US" sz="950" dirty="0"/>
          </a:p>
        </p:txBody>
      </p:sp>
      <p:sp>
        <p:nvSpPr>
          <p:cNvPr id="8" name="Shape 6"/>
          <p:cNvSpPr/>
          <p:nvPr/>
        </p:nvSpPr>
        <p:spPr>
          <a:xfrm>
            <a:off x="4322978" y="1371600"/>
            <a:ext cx="3545738" cy="2395728"/>
          </a:xfrm>
          <a:prstGeom prst="roundRect">
            <a:avLst>
              <a:gd name="adj" fmla="val 2672"/>
            </a:avLst>
          </a:prstGeom>
          <a:solidFill>
            <a:srgbClr val="F3F5F8"/>
          </a:solidFill>
          <a:ln w="12700">
            <a:solidFill>
              <a:srgbClr val="F3F5F8"/>
            </a:solidFill>
            <a:prstDash val="solid"/>
          </a:ln>
        </p:spPr>
      </p:sp>
      <p:sp>
        <p:nvSpPr>
          <p:cNvPr id="9" name="Text 7"/>
          <p:cNvSpPr/>
          <p:nvPr/>
        </p:nvSpPr>
        <p:spPr>
          <a:xfrm>
            <a:off x="4542434" y="1517904"/>
            <a:ext cx="3106826" cy="256032"/>
          </a:xfrm>
          <a:prstGeom prst="rect">
            <a:avLst/>
          </a:prstGeom>
          <a:noFill/>
          <a:ln/>
        </p:spPr>
        <p:txBody>
          <a:bodyPr wrap="square" lIns="0" tIns="0" rIns="0" bIns="0" rtlCol="0" anchor="ctr"/>
          <a:lstStyle/>
          <a:p>
            <a:pPr indent="0" marL="0">
              <a:buNone/>
            </a:pPr>
            <a:r>
              <a:rPr lang="en-US" sz="1050" b="1" spc="150" kern="0" dirty="0">
                <a:solidFill>
                  <a:srgbClr val="121F35"/>
                </a:solidFill>
                <a:latin typeface="Calibri" pitchFamily="34" charset="0"/>
                <a:ea typeface="Calibri" pitchFamily="34" charset="-122"/>
                <a:cs typeface="Calibri" pitchFamily="34" charset="-120"/>
              </a:rPr>
              <a:t>LANDING PAGE — BEFORE LAUNCH</a:t>
            </a:r>
            <a:endParaRPr lang="en-US" sz="1050" dirty="0"/>
          </a:p>
        </p:txBody>
      </p:sp>
      <p:sp>
        <p:nvSpPr>
          <p:cNvPr id="10" name="Shape 8"/>
          <p:cNvSpPr/>
          <p:nvPr/>
        </p:nvSpPr>
        <p:spPr>
          <a:xfrm>
            <a:off x="4542434" y="1828800"/>
            <a:ext cx="3106826" cy="0"/>
          </a:xfrm>
          <a:prstGeom prst="line">
            <a:avLst/>
          </a:prstGeom>
          <a:noFill/>
          <a:ln w="12700">
            <a:solidFill>
              <a:srgbClr val="D9DFE8"/>
            </a:solidFill>
            <a:prstDash val="solid"/>
          </a:ln>
        </p:spPr>
      </p:sp>
      <p:sp>
        <p:nvSpPr>
          <p:cNvPr id="11" name="Text 9"/>
          <p:cNvSpPr/>
          <p:nvPr/>
        </p:nvSpPr>
        <p:spPr>
          <a:xfrm>
            <a:off x="4542434" y="1938528"/>
            <a:ext cx="3106826" cy="1645920"/>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Zeta privacy notice URL</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One named Zeta data recipient</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Brand assets</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Approval of landing-page wording and disclosure</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Zeta campaign and outreach owner</a:t>
            </a:r>
            <a:endParaRPr lang="en-US" sz="950" dirty="0"/>
          </a:p>
        </p:txBody>
      </p:sp>
      <p:sp>
        <p:nvSpPr>
          <p:cNvPr id="12" name="Shape 10"/>
          <p:cNvSpPr/>
          <p:nvPr/>
        </p:nvSpPr>
        <p:spPr>
          <a:xfrm>
            <a:off x="8097317" y="1371600"/>
            <a:ext cx="3545738" cy="2395728"/>
          </a:xfrm>
          <a:prstGeom prst="roundRect">
            <a:avLst>
              <a:gd name="adj" fmla="val 2672"/>
            </a:avLst>
          </a:prstGeom>
          <a:solidFill>
            <a:srgbClr val="F3F5F8"/>
          </a:solidFill>
          <a:ln w="12700">
            <a:solidFill>
              <a:srgbClr val="F3F5F8"/>
            </a:solidFill>
            <a:prstDash val="solid"/>
          </a:ln>
        </p:spPr>
      </p:sp>
      <p:sp>
        <p:nvSpPr>
          <p:cNvPr id="13" name="Text 11"/>
          <p:cNvSpPr/>
          <p:nvPr/>
        </p:nvSpPr>
        <p:spPr>
          <a:xfrm>
            <a:off x="8316773" y="1517904"/>
            <a:ext cx="3106826" cy="256032"/>
          </a:xfrm>
          <a:prstGeom prst="rect">
            <a:avLst/>
          </a:prstGeom>
          <a:noFill/>
          <a:ln/>
        </p:spPr>
        <p:txBody>
          <a:bodyPr wrap="square" lIns="0" tIns="0" rIns="0" bIns="0" rtlCol="0" anchor="ctr"/>
          <a:lstStyle/>
          <a:p>
            <a:pPr indent="0" marL="0">
              <a:buNone/>
            </a:pPr>
            <a:r>
              <a:rPr lang="en-US" sz="1050" b="1" spc="150" kern="0" dirty="0">
                <a:solidFill>
                  <a:srgbClr val="121F35"/>
                </a:solidFill>
                <a:latin typeface="Calibri" pitchFamily="34" charset="0"/>
                <a:ea typeface="Calibri" pitchFamily="34" charset="-122"/>
                <a:cs typeface="Calibri" pitchFamily="34" charset="-120"/>
              </a:rPr>
              <a:t>PROGRAMME</a:t>
            </a:r>
            <a:endParaRPr lang="en-US" sz="1050" dirty="0"/>
          </a:p>
        </p:txBody>
      </p:sp>
      <p:sp>
        <p:nvSpPr>
          <p:cNvPr id="14" name="Shape 12"/>
          <p:cNvSpPr/>
          <p:nvPr/>
        </p:nvSpPr>
        <p:spPr>
          <a:xfrm>
            <a:off x="8316773" y="1828800"/>
            <a:ext cx="3106826" cy="0"/>
          </a:xfrm>
          <a:prstGeom prst="line">
            <a:avLst/>
          </a:prstGeom>
          <a:noFill/>
          <a:ln w="12700">
            <a:solidFill>
              <a:srgbClr val="D9DFE8"/>
            </a:solidFill>
            <a:prstDash val="solid"/>
          </a:ln>
        </p:spPr>
      </p:sp>
      <p:sp>
        <p:nvSpPr>
          <p:cNvPr id="15" name="Text 13"/>
          <p:cNvSpPr/>
          <p:nvPr/>
        </p:nvSpPr>
        <p:spPr>
          <a:xfrm>
            <a:off x="8316773" y="1938528"/>
            <a:ext cx="3106826" cy="1645920"/>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Preferred Zeta speaker</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Preferred customer or client participant, if pursuing a joint session</a:t>
            </a:r>
            <a:endParaRPr lang="en-US" sz="950" dirty="0"/>
          </a:p>
          <a:p>
            <a:pPr marL="127000" indent="-127000">
              <a:spcAft>
                <a:spcPts val="500"/>
              </a:spcAft>
              <a:buSzPct val="100000"/>
              <a:buChar char="•"/>
            </a:pPr>
            <a:r>
              <a:rPr lang="en-US" sz="950" dirty="0">
                <a:solidFill>
                  <a:srgbClr val="273349"/>
                </a:solidFill>
                <a:latin typeface="Calibri" pitchFamily="34" charset="0"/>
                <a:ea typeface="Calibri" pitchFamily="34" charset="-122"/>
                <a:cs typeface="Calibri" pitchFamily="34" charset="-120"/>
              </a:rPr>
              <a:t>Initial session concept or theme</a:t>
            </a:r>
            <a:endParaRPr lang="en-US" sz="950" dirty="0"/>
          </a:p>
        </p:txBody>
      </p:sp>
      <p:sp>
        <p:nvSpPr>
          <p:cNvPr id="16" name="Shape 14"/>
          <p:cNvSpPr/>
          <p:nvPr/>
        </p:nvSpPr>
        <p:spPr>
          <a:xfrm>
            <a:off x="548640" y="3785616"/>
            <a:ext cx="11094415" cy="0"/>
          </a:xfrm>
          <a:prstGeom prst="line">
            <a:avLst/>
          </a:prstGeom>
          <a:noFill/>
          <a:ln w="12700">
            <a:solidFill>
              <a:srgbClr val="D9DFE8"/>
            </a:solidFill>
            <a:prstDash val="solid"/>
          </a:ln>
        </p:spPr>
      </p:sp>
      <p:sp>
        <p:nvSpPr>
          <p:cNvPr id="17" name="Text 15"/>
          <p:cNvSpPr/>
          <p:nvPr/>
        </p:nvSpPr>
        <p:spPr>
          <a:xfrm>
            <a:off x="548640" y="3895344"/>
            <a:ext cx="6400800" cy="603504"/>
          </a:xfrm>
          <a:prstGeom prst="rect">
            <a:avLst/>
          </a:prstGeom>
          <a:noFill/>
          <a:ln/>
        </p:spPr>
        <p:txBody>
          <a:bodyPr wrap="square" lIns="0" tIns="0" rIns="0" bIns="0" rtlCol="0" anchor="t"/>
          <a:lstStyle/>
          <a:p>
            <a:pPr indent="0" marL="0">
              <a:lnSpc>
                <a:spcPct val="108000"/>
              </a:lnSpc>
              <a:spcAft>
                <a:spcPts val="200"/>
              </a:spcAft>
              <a:buNone/>
            </a:pPr>
            <a:r>
              <a:rPr lang="en-US" sz="1300" b="1" dirty="0">
                <a:solidFill>
                  <a:srgbClr val="121F35"/>
                </a:solidFill>
                <a:latin typeface="Cambria" pitchFamily="34" charset="0"/>
                <a:ea typeface="Cambria" pitchFamily="34" charset="-122"/>
                <a:cs typeface="Cambria" pitchFamily="34" charset="-120"/>
              </a:rPr>
              <a:t>18 September 2026</a:t>
            </a:r>
            <a:endParaRPr lang="en-US" sz="1300" dirty="0"/>
          </a:p>
          <a:p>
            <a:pPr indent="0" marL="0">
              <a:lnSpc>
                <a:spcPct val="108000"/>
              </a:lnSpc>
              <a:buNone/>
            </a:pPr>
            <a:r>
              <a:rPr lang="en-US" sz="1000" dirty="0">
                <a:solidFill>
                  <a:srgbClr val="55637A"/>
                </a:solidFill>
                <a:latin typeface="Calibri" pitchFamily="34" charset="0"/>
                <a:ea typeface="Calibri" pitchFamily="34" charset="-122"/>
                <a:cs typeface="Calibri" pitchFamily="34" charset="-120"/>
              </a:rPr>
              <a:t>logo and brand assets · speaker name and title · initial session outline · company profile and boilerplate</a:t>
            </a:r>
            <a:endParaRPr lang="en-US" sz="1300" dirty="0"/>
          </a:p>
        </p:txBody>
      </p:sp>
      <p:sp>
        <p:nvSpPr>
          <p:cNvPr id="18" name="Text 16"/>
          <p:cNvSpPr/>
          <p:nvPr/>
        </p:nvSpPr>
        <p:spPr>
          <a:xfrm>
            <a:off x="7406640" y="3895344"/>
            <a:ext cx="4236415" cy="603504"/>
          </a:xfrm>
          <a:prstGeom prst="rect">
            <a:avLst/>
          </a:prstGeom>
          <a:noFill/>
          <a:ln/>
        </p:spPr>
        <p:txBody>
          <a:bodyPr wrap="square" lIns="0" tIns="0" rIns="0" bIns="0" rtlCol="0" anchor="t"/>
          <a:lstStyle/>
          <a:p>
            <a:pPr indent="0" marL="0">
              <a:lnSpc>
                <a:spcPct val="108000"/>
              </a:lnSpc>
              <a:spcAft>
                <a:spcPts val="200"/>
              </a:spcAft>
              <a:buNone/>
            </a:pPr>
            <a:r>
              <a:rPr lang="en-US" sz="1300" b="1" dirty="0">
                <a:solidFill>
                  <a:srgbClr val="121F35"/>
                </a:solidFill>
                <a:latin typeface="Cambria" pitchFamily="34" charset="0"/>
                <a:ea typeface="Cambria" pitchFamily="34" charset="-122"/>
                <a:cs typeface="Cambria" pitchFamily="34" charset="-120"/>
              </a:rPr>
              <a:t>30 October 2026</a:t>
            </a:r>
            <a:endParaRPr lang="en-US" sz="1300" dirty="0"/>
          </a:p>
          <a:p>
            <a:pPr indent="0" marL="0">
              <a:lnSpc>
                <a:spcPct val="108000"/>
              </a:lnSpc>
              <a:buNone/>
            </a:pPr>
            <a:r>
              <a:rPr lang="en-US" sz="1000" dirty="0">
                <a:solidFill>
                  <a:srgbClr val="55637A"/>
                </a:solidFill>
                <a:latin typeface="Calibri" pitchFamily="34" charset="0"/>
                <a:ea typeface="Calibri" pitchFamily="34" charset="-122"/>
                <a:cs typeface="Calibri" pitchFamily="34" charset="-120"/>
              </a:rPr>
              <a:t>final session materials · pass nominations</a:t>
            </a:r>
            <a:endParaRPr lang="en-US" sz="1300" dirty="0"/>
          </a:p>
        </p:txBody>
      </p:sp>
      <p:sp>
        <p:nvSpPr>
          <p:cNvPr id="19" name="Text 17"/>
          <p:cNvSpPr/>
          <p:nvPr/>
        </p:nvSpPr>
        <p:spPr>
          <a:xfrm>
            <a:off x="548640" y="4553712"/>
            <a:ext cx="11094415" cy="274320"/>
          </a:xfrm>
          <a:prstGeom prst="rect">
            <a:avLst/>
          </a:prstGeom>
          <a:noFill/>
          <a:ln/>
        </p:spPr>
        <p:txBody>
          <a:bodyPr wrap="square" lIns="0" tIns="0" rIns="0" bIns="0" rtlCol="0" anchor="ctr"/>
          <a:lstStyle/>
          <a:p>
            <a:pPr indent="0" marL="0">
              <a:buNone/>
            </a:pPr>
            <a:r>
              <a:rPr lang="en-US" sz="1050" b="1" spc="200" kern="0" dirty="0">
                <a:solidFill>
                  <a:srgbClr val="8C6A14"/>
                </a:solidFill>
                <a:latin typeface="Calibri" pitchFamily="34" charset="0"/>
                <a:ea typeface="Calibri" pitchFamily="34" charset="-122"/>
                <a:cs typeface="Calibri" pitchFamily="34" charset="-120"/>
              </a:rPr>
              <a:t>ADDITIONAL OPPORTUNITIES</a:t>
            </a:r>
            <a:pPr indent="0" marL="0">
              <a:buNone/>
            </a:pPr>
            <a:r>
              <a:rPr lang="en-US" sz="950" i="1" dirty="0">
                <a:solidFill>
                  <a:srgbClr val="55637A"/>
                </a:solidFill>
                <a:latin typeface="Calibri" pitchFamily="34" charset="0"/>
                <a:ea typeface="Calibri" pitchFamily="34" charset="-122"/>
                <a:cs typeface="Calibri" pitchFamily="34" charset="-120"/>
              </a:rPr>
              <a:t>   Separate paid opportunities — not included in the £11,825 value total. Separately sponsored activations sit above the annual partnership baseline and increase the total opportunity set.</a:t>
            </a:r>
            <a:endParaRPr lang="en-US" sz="1050" dirty="0"/>
          </a:p>
        </p:txBody>
      </p:sp>
      <p:sp>
        <p:nvSpPr>
          <p:cNvPr id="20" name="Shape 18"/>
          <p:cNvSpPr/>
          <p:nvPr/>
        </p:nvSpPr>
        <p:spPr>
          <a:xfrm>
            <a:off x="548640" y="4882896"/>
            <a:ext cx="6309360" cy="969264"/>
          </a:xfrm>
          <a:prstGeom prst="roundRect">
            <a:avLst>
              <a:gd name="adj" fmla="val 6604"/>
            </a:avLst>
          </a:prstGeom>
          <a:solidFill>
            <a:srgbClr val="FAF6EA"/>
          </a:solidFill>
          <a:ln w="12700">
            <a:solidFill>
              <a:srgbClr val="E5D9B4"/>
            </a:solidFill>
            <a:prstDash val="solid"/>
          </a:ln>
        </p:spPr>
      </p:sp>
      <p:sp>
        <p:nvSpPr>
          <p:cNvPr id="21" name="Text 19"/>
          <p:cNvSpPr/>
          <p:nvPr/>
        </p:nvSpPr>
        <p:spPr>
          <a:xfrm>
            <a:off x="768096" y="4974336"/>
            <a:ext cx="5870448" cy="786384"/>
          </a:xfrm>
          <a:prstGeom prst="rect">
            <a:avLst/>
          </a:prstGeom>
          <a:noFill/>
          <a:ln/>
        </p:spPr>
        <p:txBody>
          <a:bodyPr wrap="square" lIns="0" tIns="0" rIns="0" bIns="0" rtlCol="0" anchor="t"/>
          <a:lstStyle/>
          <a:p>
            <a:pPr indent="0" marL="0">
              <a:lnSpc>
                <a:spcPct val="105000"/>
              </a:lnSpc>
              <a:spcAft>
                <a:spcPts val="200"/>
              </a:spcAft>
              <a:buNone/>
            </a:pPr>
            <a:r>
              <a:rPr lang="en-US" sz="1050" b="1" dirty="0">
                <a:solidFill>
                  <a:srgbClr val="121F35"/>
                </a:solidFill>
                <a:latin typeface="Calibri" pitchFamily="34" charset="0"/>
                <a:ea typeface="Calibri" pitchFamily="34" charset="-122"/>
                <a:cs typeface="Calibri" pitchFamily="34" charset="-120"/>
              </a:rPr>
              <a:t>Zeta-hosted Breakfast</a:t>
            </a:r>
            <a:endParaRPr lang="en-US" sz="1050" dirty="0"/>
          </a:p>
          <a:p>
            <a:pPr indent="0" marL="0">
              <a:lnSpc>
                <a:spcPct val="105000"/>
              </a:lnSpc>
              <a:buNone/>
            </a:pPr>
            <a:r>
              <a:rPr lang="en-US" sz="900" dirty="0">
                <a:solidFill>
                  <a:srgbClr val="273349"/>
                </a:solidFill>
                <a:latin typeface="Calibri" pitchFamily="34" charset="0"/>
                <a:ea typeface="Calibri" pitchFamily="34" charset="-122"/>
                <a:cs typeface="Calibri" pitchFamily="34" charset="-120"/>
              </a:rPr>
              <a:t>Currently being scoped with Caroline. A high-quality Zeta-hosted experience rather than simply refreshments — dedicated space, catering, teas and coffees, seating and networking format, branding, and a sponsored registration route. Separate investment — options and costs to follow.</a:t>
            </a:r>
            <a:endParaRPr lang="en-US" sz="1050" dirty="0"/>
          </a:p>
        </p:txBody>
      </p:sp>
      <p:sp>
        <p:nvSpPr>
          <p:cNvPr id="22" name="Shape 20"/>
          <p:cNvSpPr/>
          <p:nvPr/>
        </p:nvSpPr>
        <p:spPr>
          <a:xfrm>
            <a:off x="7086600" y="4882896"/>
            <a:ext cx="4556455" cy="969264"/>
          </a:xfrm>
          <a:prstGeom prst="roundRect">
            <a:avLst>
              <a:gd name="adj" fmla="val 6604"/>
            </a:avLst>
          </a:prstGeom>
          <a:solidFill>
            <a:srgbClr val="FAF6EA"/>
          </a:solidFill>
          <a:ln w="12700">
            <a:solidFill>
              <a:srgbClr val="E5D9B4"/>
            </a:solidFill>
            <a:prstDash val="solid"/>
          </a:ln>
        </p:spPr>
      </p:sp>
      <p:sp>
        <p:nvSpPr>
          <p:cNvPr id="23" name="Text 21"/>
          <p:cNvSpPr/>
          <p:nvPr/>
        </p:nvSpPr>
        <p:spPr>
          <a:xfrm>
            <a:off x="7306056" y="4974336"/>
            <a:ext cx="4117543" cy="786384"/>
          </a:xfrm>
          <a:prstGeom prst="rect">
            <a:avLst/>
          </a:prstGeom>
          <a:noFill/>
          <a:ln/>
        </p:spPr>
        <p:txBody>
          <a:bodyPr wrap="square" lIns="0" tIns="0" rIns="0" bIns="0" rtlCol="0" anchor="t"/>
          <a:lstStyle/>
          <a:p>
            <a:pPr indent="0" marL="0">
              <a:lnSpc>
                <a:spcPct val="105000"/>
              </a:lnSpc>
              <a:spcAft>
                <a:spcPts val="200"/>
              </a:spcAft>
              <a:buNone/>
            </a:pPr>
            <a:r>
              <a:rPr lang="en-US" sz="1050" b="1" dirty="0">
                <a:solidFill>
                  <a:srgbClr val="121F35"/>
                </a:solidFill>
                <a:latin typeface="Calibri" pitchFamily="34" charset="0"/>
                <a:ea typeface="Calibri" pitchFamily="34" charset="-122"/>
                <a:cs typeface="Calibri" pitchFamily="34" charset="-120"/>
              </a:rPr>
              <a:t>Gala Dinner Partnership</a:t>
            </a:r>
            <a:endParaRPr lang="en-US" sz="1050" dirty="0"/>
          </a:p>
          <a:p>
            <a:pPr indent="0" marL="0">
              <a:lnSpc>
                <a:spcPct val="105000"/>
              </a:lnSpc>
              <a:buNone/>
            </a:pPr>
            <a:r>
              <a:rPr lang="en-US" sz="900" dirty="0">
                <a:solidFill>
                  <a:srgbClr val="273349"/>
                </a:solidFill>
                <a:latin typeface="Calibri" pitchFamily="34" charset="0"/>
                <a:ea typeface="Calibri" pitchFamily="34" charset="-122"/>
                <a:cs typeface="Calibri" pitchFamily="34" charset="-120"/>
              </a:rPr>
              <a:t>The opportunity to sponsor and host the Gala Dinner as an additional customer and prospect hospitality experience. Separate investment — proposal and pricing to follow.</a:t>
            </a:r>
            <a:endParaRPr lang="en-US" sz="1050" dirty="0"/>
          </a:p>
        </p:txBody>
      </p:sp>
      <p:sp>
        <p:nvSpPr>
          <p:cNvPr id="24" name="Shape 22"/>
          <p:cNvSpPr/>
          <p:nvPr/>
        </p:nvSpPr>
        <p:spPr>
          <a:xfrm>
            <a:off x="0" y="5961888"/>
            <a:ext cx="12191695" cy="896112"/>
          </a:xfrm>
          <a:prstGeom prst="rect">
            <a:avLst/>
          </a:prstGeom>
          <a:solidFill>
            <a:srgbClr val="121F35"/>
          </a:solidFill>
          <a:ln w="12700">
            <a:solidFill>
              <a:srgbClr val="121F35"/>
            </a:solidFill>
            <a:prstDash val="solid"/>
          </a:ln>
        </p:spPr>
      </p:sp>
      <p:sp>
        <p:nvSpPr>
          <p:cNvPr id="25" name="Text 23"/>
          <p:cNvSpPr/>
          <p:nvPr/>
        </p:nvSpPr>
        <p:spPr>
          <a:xfrm>
            <a:off x="548640" y="6016752"/>
            <a:ext cx="11094415" cy="475488"/>
          </a:xfrm>
          <a:prstGeom prst="rect">
            <a:avLst/>
          </a:prstGeom>
          <a:noFill/>
          <a:ln/>
        </p:spPr>
        <p:txBody>
          <a:bodyPr wrap="square" lIns="0" tIns="0" rIns="0" bIns="0" rtlCol="0" anchor="ctr"/>
          <a:lstStyle/>
          <a:p>
            <a:pPr indent="0" marL="0">
              <a:lnSpc>
                <a:spcPct val="110000"/>
              </a:lnSpc>
              <a:buNone/>
            </a:pPr>
            <a:r>
              <a:rPr lang="en-US" sz="1000" dirty="0">
                <a:solidFill>
                  <a:srgbClr val="FFFFFF"/>
                </a:solidFill>
                <a:latin typeface="Calibri" pitchFamily="34" charset="0"/>
                <a:ea typeface="Calibri" pitchFamily="34" charset="-122"/>
                <a:cs typeface="Calibri" pitchFamily="34" charset="-120"/>
              </a:rPr>
              <a:t>We are not looking to charge Zeta every time we can be helpful. The Strategic Partnership is deliberately designed to create room for collaboration. Where an idea becomes a dedicated hospitality experience, production project or substantial bespoke activation, we will scope it separately and transparently.</a:t>
            </a:r>
            <a:endParaRPr lang="en-US" sz="1000" dirty="0"/>
          </a:p>
        </p:txBody>
      </p:sp>
      <p:sp>
        <p:nvSpPr>
          <p:cNvPr id="26" name="Text 24"/>
          <p:cNvSpPr/>
          <p:nvPr/>
        </p:nvSpPr>
        <p:spPr>
          <a:xfrm>
            <a:off x="548640" y="6492240"/>
            <a:ext cx="11094415" cy="292608"/>
          </a:xfrm>
          <a:prstGeom prst="rect">
            <a:avLst/>
          </a:prstGeom>
          <a:noFill/>
          <a:ln/>
        </p:spPr>
        <p:txBody>
          <a:bodyPr wrap="square" lIns="0" tIns="0" rIns="0" bIns="0" rtlCol="0" anchor="ctr"/>
          <a:lstStyle/>
          <a:p>
            <a:pPr indent="0" marL="0">
              <a:buNone/>
            </a:pPr>
            <a:r>
              <a:rPr lang="en-US" sz="1100" i="1" dirty="0">
                <a:solidFill>
                  <a:srgbClr val="D9B45B"/>
                </a:solidFill>
                <a:latin typeface="Cambria" pitchFamily="34" charset="0"/>
                <a:ea typeface="Cambria" pitchFamily="34" charset="-122"/>
                <a:cs typeface="Cambria" pitchFamily="34" charset="-120"/>
              </a:rPr>
              <a:t>The contracts define the foundation. This plan shows how we intend to make the relationship perform.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Emailexpert UK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Zeta Global × emailexpert — 2026/27 Strategic Partnership</dc:title>
  <dc:subject>PptxGenJS Presentation</dc:subject>
  <dc:creator>emailexpert</dc:creator>
  <cp:lastModifiedBy>emailexpert</cp:lastModifiedBy>
  <cp:revision>1</cp:revision>
  <dcterms:created xsi:type="dcterms:W3CDTF">2026-08-17T10:57:37Z</dcterms:created>
  <dcterms:modified xsi:type="dcterms:W3CDTF">2026-08-17T10:57:37Z</dcterms:modified>
</cp:coreProperties>
</file>